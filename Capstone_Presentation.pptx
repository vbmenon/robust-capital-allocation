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86" r:id="rId4"/>
    <p:sldId id="287" r:id="rId5"/>
    <p:sldId id="288" r:id="rId6"/>
    <p:sldId id="289" r:id="rId7"/>
    <p:sldId id="290" r:id="rId8"/>
    <p:sldId id="266" r:id="rId9"/>
    <p:sldId id="267" r:id="rId10"/>
    <p:sldId id="268" r:id="rId11"/>
    <p:sldId id="269" r:id="rId12"/>
    <p:sldId id="270" r:id="rId13"/>
    <p:sldId id="271" r:id="rId14"/>
    <p:sldId id="273" r:id="rId15"/>
    <p:sldId id="274" r:id="rId16"/>
    <p:sldId id="275" r:id="rId17"/>
    <p:sldId id="276" r:id="rId18"/>
    <p:sldId id="277" r:id="rId19"/>
    <p:sldId id="293" r:id="rId20"/>
    <p:sldId id="278" r:id="rId21"/>
    <p:sldId id="294" r:id="rId22"/>
    <p:sldId id="291" r:id="rId23"/>
    <p:sldId id="295" r:id="rId24"/>
    <p:sldId id="292" r:id="rId25"/>
    <p:sldId id="285" r:id="rId26"/>
    <p:sldId id="257" r:id="rId27"/>
    <p:sldId id="296"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4598" autoAdjust="0"/>
  </p:normalViewPr>
  <p:slideViewPr>
    <p:cSldViewPr snapToGrid="0">
      <p:cViewPr varScale="1">
        <p:scale>
          <a:sx n="81" d="100"/>
          <a:sy n="81" d="100"/>
        </p:scale>
        <p:origin x="76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5" Type="http://schemas.openxmlformats.org/officeDocument/2006/relationships/image" Target="../media/image5.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89B95A1-96EC-4FEC-863B-924CA3ECC9F9}" type="datetimeFigureOut">
              <a:rPr lang="en-IN" smtClean="0"/>
              <a:t>26-08-2020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2618015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9B95A1-96EC-4FEC-863B-924CA3ECC9F9}" type="datetimeFigureOut">
              <a:rPr lang="en-IN" smtClean="0"/>
              <a:t>26-08-2020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1505257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9B95A1-96EC-4FEC-863B-924CA3ECC9F9}" type="datetimeFigureOut">
              <a:rPr lang="en-IN" smtClean="0"/>
              <a:t>26-08-2020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3227305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9B95A1-96EC-4FEC-863B-924CA3ECC9F9}" type="datetimeFigureOut">
              <a:rPr lang="en-IN" smtClean="0"/>
              <a:t>26-08-2020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455068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9B95A1-96EC-4FEC-863B-924CA3ECC9F9}" type="datetimeFigureOut">
              <a:rPr lang="en-IN" smtClean="0"/>
              <a:t>26-08-2020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3531514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9B95A1-96EC-4FEC-863B-924CA3ECC9F9}" type="datetimeFigureOut">
              <a:rPr lang="en-IN" smtClean="0"/>
              <a:t>26-08-2020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2735428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9B95A1-96EC-4FEC-863B-924CA3ECC9F9}" type="datetimeFigureOut">
              <a:rPr lang="en-IN" smtClean="0"/>
              <a:t>26-08-2020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3460236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9B95A1-96EC-4FEC-863B-924CA3ECC9F9}" type="datetimeFigureOut">
              <a:rPr lang="en-IN" smtClean="0"/>
              <a:t>26-08-2020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1166645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9B95A1-96EC-4FEC-863B-924CA3ECC9F9}" type="datetimeFigureOut">
              <a:rPr lang="en-IN" smtClean="0"/>
              <a:t>26-08-2020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2708464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9B95A1-96EC-4FEC-863B-924CA3ECC9F9}" type="datetimeFigureOut">
              <a:rPr lang="en-IN" smtClean="0"/>
              <a:t>26-08-2020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2469166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9B95A1-96EC-4FEC-863B-924CA3ECC9F9}" type="datetimeFigureOut">
              <a:rPr lang="en-IN" smtClean="0"/>
              <a:t>26-08-2020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1F8DA3-B433-4E68-8825-845FDFBD6811}"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63214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9B95A1-96EC-4FEC-863B-924CA3ECC9F9}" type="datetimeFigureOut">
              <a:rPr lang="en-IN" smtClean="0"/>
              <a:t>26-08-2020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3269539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9B95A1-96EC-4FEC-863B-924CA3ECC9F9}" type="datetimeFigureOut">
              <a:rPr lang="en-IN" smtClean="0"/>
              <a:t>26-08-2020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1F8DA3-B433-4E68-8825-845FDFBD6811}"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978532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9B95A1-96EC-4FEC-863B-924CA3ECC9F9}" type="datetimeFigureOut">
              <a:rPr lang="en-IN" smtClean="0"/>
              <a:t>26-08-2020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3695711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9B95A1-96EC-4FEC-863B-924CA3ECC9F9}" type="datetimeFigureOut">
              <a:rPr lang="en-IN" smtClean="0"/>
              <a:t>26-08-2020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341501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9B95A1-96EC-4FEC-863B-924CA3ECC9F9}" type="datetimeFigureOut">
              <a:rPr lang="en-IN" smtClean="0"/>
              <a:t>26-08-2020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1F8DA3-B433-4E68-8825-845FDFBD6811}" type="slidenum">
              <a:rPr lang="en-IN" smtClean="0"/>
              <a:t>‹#›</a:t>
            </a:fld>
            <a:endParaRPr lang="en-IN"/>
          </a:p>
        </p:txBody>
      </p:sp>
    </p:spTree>
    <p:extLst>
      <p:ext uri="{BB962C8B-B14F-4D97-AF65-F5344CB8AC3E}">
        <p14:creationId xmlns:p14="http://schemas.microsoft.com/office/powerpoint/2010/main" val="1680660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89B95A1-96EC-4FEC-863B-924CA3ECC9F9}" type="datetimeFigureOut">
              <a:rPr lang="en-IN" smtClean="0"/>
              <a:t>26-08-2020</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71F8DA3-B433-4E68-8825-845FDFBD6811}" type="slidenum">
              <a:rPr lang="en-IN" smtClean="0"/>
              <a:t>‹#›</a:t>
            </a:fld>
            <a:endParaRPr lang="en-IN"/>
          </a:p>
        </p:txBody>
      </p:sp>
    </p:spTree>
    <p:extLst>
      <p:ext uri="{BB962C8B-B14F-4D97-AF65-F5344CB8AC3E}">
        <p14:creationId xmlns:p14="http://schemas.microsoft.com/office/powerpoint/2010/main" val="24806561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4.wmf"/><Relationship Id="rId4" Type="http://schemas.openxmlformats.org/officeDocument/2006/relationships/image" Target="../media/image1.wmf"/><Relationship Id="rId9"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7.bin"/><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8.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0.wmf"/><Relationship Id="rId5" Type="http://schemas.openxmlformats.org/officeDocument/2006/relationships/oleObject" Target="../embeddings/oleObject10.bin"/><Relationship Id="rId4" Type="http://schemas.openxmlformats.org/officeDocument/2006/relationships/image" Target="../media/image9.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1.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3.wmf"/><Relationship Id="rId5" Type="http://schemas.openxmlformats.org/officeDocument/2006/relationships/oleObject" Target="../embeddings/oleObject13.bin"/><Relationship Id="rId4" Type="http://schemas.openxmlformats.org/officeDocument/2006/relationships/image" Target="../media/image12.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4.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7F1A7-AD76-43F3-9BC1-C56DB0417F8D}"/>
              </a:ext>
            </a:extLst>
          </p:cNvPr>
          <p:cNvSpPr>
            <a:spLocks noGrp="1"/>
          </p:cNvSpPr>
          <p:nvPr>
            <p:ph type="ctrTitle"/>
          </p:nvPr>
        </p:nvSpPr>
        <p:spPr>
          <a:xfrm>
            <a:off x="1393794" y="115407"/>
            <a:ext cx="7880209" cy="3935426"/>
          </a:xfrm>
        </p:spPr>
        <p:txBody>
          <a:bodyPr/>
          <a:lstStyle/>
          <a:p>
            <a:pPr algn="l"/>
            <a:r>
              <a:rPr lang="en-US" sz="4000" dirty="0"/>
              <a:t>A Study on </a:t>
            </a:r>
            <a:br>
              <a:rPr lang="en-US" sz="4000" dirty="0"/>
            </a:br>
            <a:r>
              <a:rPr lang="en-US" sz="4000" dirty="0"/>
              <a:t>Robust Quantitative Techniques for Capital Allocation</a:t>
            </a:r>
            <a:endParaRPr lang="en-IN" sz="4000" dirty="0"/>
          </a:p>
        </p:txBody>
      </p:sp>
      <p:sp>
        <p:nvSpPr>
          <p:cNvPr id="3" name="Subtitle 2">
            <a:extLst>
              <a:ext uri="{FF2B5EF4-FFF2-40B4-BE49-F238E27FC236}">
                <a16:creationId xmlns:a16="http://schemas.microsoft.com/office/drawing/2014/main" id="{50DB67EE-20C3-4903-909A-1FE6EF5D0076}"/>
              </a:ext>
            </a:extLst>
          </p:cNvPr>
          <p:cNvSpPr>
            <a:spLocks noGrp="1"/>
          </p:cNvSpPr>
          <p:nvPr>
            <p:ph type="subTitle" idx="1"/>
          </p:nvPr>
        </p:nvSpPr>
        <p:spPr/>
        <p:txBody>
          <a:bodyPr>
            <a:normAutofit/>
          </a:bodyPr>
          <a:lstStyle/>
          <a:p>
            <a:r>
              <a:rPr lang="en-US" dirty="0"/>
              <a:t>Student: Vinayak B. Menon</a:t>
            </a:r>
          </a:p>
          <a:p>
            <a:r>
              <a:rPr lang="en-IN" dirty="0"/>
              <a:t>Supervisor: Azam Shamsi, PhD Finance</a:t>
            </a:r>
          </a:p>
        </p:txBody>
      </p:sp>
    </p:spTree>
    <p:extLst>
      <p:ext uri="{BB962C8B-B14F-4D97-AF65-F5344CB8AC3E}">
        <p14:creationId xmlns:p14="http://schemas.microsoft.com/office/powerpoint/2010/main" val="938803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52F22-C480-4D3C-B9FA-23BFCB21801D}"/>
              </a:ext>
            </a:extLst>
          </p:cNvPr>
          <p:cNvSpPr>
            <a:spLocks noGrp="1"/>
          </p:cNvSpPr>
          <p:nvPr>
            <p:ph type="title"/>
          </p:nvPr>
        </p:nvSpPr>
        <p:spPr>
          <a:xfrm>
            <a:off x="677334" y="609600"/>
            <a:ext cx="8596668" cy="828583"/>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58A81809-63ED-4BDC-9823-F6C06CA489D4}"/>
              </a:ext>
            </a:extLst>
          </p:cNvPr>
          <p:cNvSpPr>
            <a:spLocks noGrp="1"/>
          </p:cNvSpPr>
          <p:nvPr>
            <p:ph idx="1"/>
          </p:nvPr>
        </p:nvSpPr>
        <p:spPr>
          <a:xfrm>
            <a:off x="677334" y="1438183"/>
            <a:ext cx="8596668" cy="4603179"/>
          </a:xfrm>
        </p:spPr>
        <p:txBody>
          <a:bodyPr/>
          <a:lstStyle/>
          <a:p>
            <a:pPr algn="l"/>
            <a:r>
              <a:rPr lang="en-US" sz="1800" b="0" i="0" u="none" strike="noStrike" baseline="0" dirty="0">
                <a:latin typeface="Arial" panose="020B0604020202020204" pitchFamily="34" charset="0"/>
                <a:cs typeface="Arial" panose="020B0604020202020204" pitchFamily="34" charset="0"/>
              </a:rPr>
              <a:t>This theoretical framework , now known as </a:t>
            </a:r>
            <a:r>
              <a:rPr lang="en-IN" sz="1800" b="0" i="0" u="none" strike="noStrike" baseline="0" dirty="0">
                <a:latin typeface="Arial" panose="020B0604020202020204" pitchFamily="34" charset="0"/>
                <a:cs typeface="Arial" panose="020B0604020202020204" pitchFamily="34" charset="0"/>
              </a:rPr>
              <a:t>Modern Portfolio Theory(MPT) or Mean Variance Analysis,  </a:t>
            </a:r>
            <a:r>
              <a:rPr lang="en-US" sz="1800" b="0" i="0" u="none" strike="noStrike" baseline="0" dirty="0">
                <a:latin typeface="Arial" panose="020B0604020202020204" pitchFamily="34" charset="0"/>
                <a:cs typeface="Arial" panose="020B0604020202020204" pitchFamily="34" charset="0"/>
              </a:rPr>
              <a:t>provided great insights on how to obtain optimal portfolios for various levels of risk. </a:t>
            </a:r>
          </a:p>
          <a:p>
            <a:pPr algn="l"/>
            <a:r>
              <a:rPr lang="en-US" sz="1800" b="0" i="0" u="none" strike="noStrike" baseline="0" dirty="0">
                <a:latin typeface="Arial" panose="020B0604020202020204" pitchFamily="34" charset="0"/>
                <a:cs typeface="Arial" panose="020B0604020202020204" pitchFamily="34" charset="0"/>
              </a:rPr>
              <a:t>As per MPT, the primary goal of portfolio optimization is to construct a portfolio that provides the highest possible return for a given </a:t>
            </a:r>
            <a:r>
              <a:rPr lang="en-IN" sz="1800" b="0" i="0" u="none" strike="noStrike" baseline="0" dirty="0">
                <a:latin typeface="Arial" panose="020B0604020202020204" pitchFamily="34" charset="0"/>
                <a:cs typeface="Arial" panose="020B0604020202020204" pitchFamily="34" charset="0"/>
              </a:rPr>
              <a:t>level of risk.</a:t>
            </a:r>
          </a:p>
          <a:p>
            <a:pPr algn="l"/>
            <a:r>
              <a:rPr lang="en-IN" sz="1800" b="0" i="0" u="none" strike="noStrike" baseline="0" dirty="0">
                <a:latin typeface="Arial" panose="020B0604020202020204" pitchFamily="34" charset="0"/>
                <a:cs typeface="Arial" panose="020B0604020202020204" pitchFamily="34" charset="0"/>
              </a:rPr>
              <a:t>This type of problem can be mathematically viewed as a ‘convex optimization problem’ with linear equalities, and hence being simple enough to solve through standard optimization procedures.</a:t>
            </a:r>
          </a:p>
          <a:p>
            <a:pPr algn="l"/>
            <a:r>
              <a:rPr lang="en-IN" dirty="0">
                <a:latin typeface="Arial" panose="020B0604020202020204" pitchFamily="34" charset="0"/>
                <a:cs typeface="Arial" panose="020B0604020202020204" pitchFamily="34" charset="0"/>
              </a:rPr>
              <a:t>When we include inequality constraints on the assets, such as when we add ‘no shorting’ constraints, the problem cannot be solved directly through the </a:t>
            </a:r>
            <a:r>
              <a:rPr lang="en-IN" dirty="0" err="1">
                <a:latin typeface="Arial" panose="020B0604020202020204" pitchFamily="34" charset="0"/>
                <a:cs typeface="Arial" panose="020B0604020202020204" pitchFamily="34" charset="0"/>
              </a:rPr>
              <a:t>Lagrangian</a:t>
            </a:r>
            <a:r>
              <a:rPr lang="en-IN" dirty="0">
                <a:latin typeface="Arial" panose="020B0604020202020204" pitchFamily="34" charset="0"/>
                <a:cs typeface="Arial" panose="020B0604020202020204" pitchFamily="34" charset="0"/>
              </a:rPr>
              <a:t> , and we may need to resort to quadratic solvers to get an approximate solution. </a:t>
            </a:r>
            <a:endParaRPr lang="en-IN" sz="1800" b="0" i="0" u="none" strike="noStrike" baseline="0" dirty="0">
              <a:latin typeface="Arial" panose="020B0604020202020204" pitchFamily="34" charset="0"/>
              <a:cs typeface="Arial" panose="020B0604020202020204" pitchFamily="34" charset="0"/>
            </a:endParaRPr>
          </a:p>
          <a:p>
            <a:pPr algn="l"/>
            <a:r>
              <a:rPr lang="en-IN" sz="1800" b="0" i="0" u="none" strike="noStrike" baseline="0" dirty="0">
                <a:latin typeface="Arial" panose="020B0604020202020204" pitchFamily="34" charset="0"/>
                <a:cs typeface="Arial" panose="020B0604020202020204" pitchFamily="34" charset="0"/>
              </a:rPr>
              <a:t> However, the Critical Line Algorithm, introduced by Markowitz, manages to provide an accurate solution to these type of problems as well.</a:t>
            </a:r>
            <a:endParaRPr lang="en-US" sz="1800" b="0" i="0" u="none" strike="noStrike" baseline="0" dirty="0">
              <a:latin typeface="Arial" panose="020B0604020202020204" pitchFamily="34" charset="0"/>
              <a:cs typeface="Arial" panose="020B0604020202020204" pitchFamily="34" charset="0"/>
            </a:endParaRPr>
          </a:p>
          <a:p>
            <a:pPr algn="l"/>
            <a:endParaRPr lang="en-IN" dirty="0"/>
          </a:p>
        </p:txBody>
      </p:sp>
    </p:spTree>
    <p:extLst>
      <p:ext uri="{BB962C8B-B14F-4D97-AF65-F5344CB8AC3E}">
        <p14:creationId xmlns:p14="http://schemas.microsoft.com/office/powerpoint/2010/main" val="236235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A81809-63ED-4BDC-9823-F6C06CA489D4}"/>
              </a:ext>
            </a:extLst>
          </p:cNvPr>
          <p:cNvSpPr>
            <a:spLocks noGrp="1"/>
          </p:cNvSpPr>
          <p:nvPr>
            <p:ph idx="1"/>
          </p:nvPr>
        </p:nvSpPr>
        <p:spPr>
          <a:xfrm>
            <a:off x="168675" y="621437"/>
            <a:ext cx="9516863" cy="5581835"/>
          </a:xfrm>
        </p:spPr>
        <p:txBody>
          <a:bodyPr>
            <a:normAutofit fontScale="92500" lnSpcReduction="10000"/>
          </a:bodyPr>
          <a:lstStyle/>
          <a:p>
            <a:r>
              <a:rPr lang="en-US" dirty="0">
                <a:latin typeface="Arial" panose="020B0604020202020204" pitchFamily="34" charset="0"/>
                <a:cs typeface="Arial" panose="020B0604020202020204" pitchFamily="34" charset="0"/>
              </a:rPr>
              <a:t>Yet, a major drawback of mean variance optimizers is their sensitivity to input errors</a:t>
            </a:r>
            <a:endParaRPr lang="en-US" sz="1800" b="0" i="0" u="none" strike="noStrike" baseline="0" dirty="0">
              <a:latin typeface="Arial" panose="020B0604020202020204" pitchFamily="34" charset="0"/>
              <a:cs typeface="Arial" panose="020B0604020202020204" pitchFamily="34" charset="0"/>
            </a:endParaRPr>
          </a:p>
          <a:p>
            <a:pPr algn="l"/>
            <a:endParaRPr lang="en-US" sz="1800" b="0" i="0" u="none" strike="noStrike" baseline="0" dirty="0">
              <a:latin typeface="Arial" panose="020B0604020202020204" pitchFamily="34" charset="0"/>
              <a:cs typeface="Arial" panose="020B0604020202020204" pitchFamily="34" charset="0"/>
            </a:endParaRPr>
          </a:p>
          <a:p>
            <a:pPr algn="l"/>
            <a:r>
              <a:rPr lang="en-US" sz="1800" b="0" i="0" u="none" strike="noStrike" baseline="0" dirty="0">
                <a:latin typeface="Arial" panose="020B0604020202020204" pitchFamily="34" charset="0"/>
                <a:cs typeface="Arial" panose="020B0604020202020204" pitchFamily="34" charset="0"/>
              </a:rPr>
              <a:t>When managing portfolios, this can be a huge issue, as it can lead to a high turnover rate in capital allocation</a:t>
            </a:r>
          </a:p>
          <a:p>
            <a:pPr algn="l"/>
            <a:endParaRPr lang="en-US" sz="1800" b="0" i="0" u="none" strike="noStrike" baseline="0" dirty="0">
              <a:latin typeface="Arial" panose="020B0604020202020204" pitchFamily="34" charset="0"/>
              <a:cs typeface="Arial" panose="020B0604020202020204" pitchFamily="34" charset="0"/>
            </a:endParaRPr>
          </a:p>
          <a:p>
            <a:pPr algn="l"/>
            <a:r>
              <a:rPr lang="en-US" sz="1800" b="0" i="0" u="none" strike="noStrike" baseline="0" dirty="0">
                <a:latin typeface="Arial" panose="020B0604020202020204" pitchFamily="34" charset="0"/>
                <a:cs typeface="Arial" panose="020B0604020202020204" pitchFamily="34" charset="0"/>
              </a:rPr>
              <a:t>Given the nature of financial data, we constantly deal with estimates and naturally, a certain level of error is to be expected.</a:t>
            </a:r>
          </a:p>
          <a:p>
            <a:pPr algn="l"/>
            <a:endParaRPr lang="en-US" sz="1800" b="0" i="0" u="none" strike="noStrike" baseline="0" dirty="0">
              <a:latin typeface="Arial" panose="020B0604020202020204" pitchFamily="34" charset="0"/>
              <a:cs typeface="Arial" panose="020B0604020202020204" pitchFamily="34" charset="0"/>
            </a:endParaRPr>
          </a:p>
          <a:p>
            <a:pPr algn="l"/>
            <a:r>
              <a:rPr lang="en-US" sz="1800" b="0" i="0" u="none" strike="noStrike" baseline="0" dirty="0">
                <a:latin typeface="Arial" panose="020B0604020202020204" pitchFamily="34" charset="0"/>
                <a:cs typeface="Arial" panose="020B0604020202020204" pitchFamily="34" charset="0"/>
              </a:rPr>
              <a:t>Portfolios that are optimized in-sample fail to outperform or even match the naive weighted allocation of a portfolio out of sample.</a:t>
            </a:r>
          </a:p>
          <a:p>
            <a:pPr algn="l"/>
            <a:endParaRPr lang="en-US" dirty="0">
              <a:latin typeface="Arial" panose="020B0604020202020204" pitchFamily="34" charset="0"/>
              <a:cs typeface="Arial" panose="020B0604020202020204" pitchFamily="34" charset="0"/>
            </a:endParaRPr>
          </a:p>
          <a:p>
            <a:pPr algn="l"/>
            <a:r>
              <a:rPr lang="en-US" dirty="0">
                <a:latin typeface="Arial" panose="020B0604020202020204" pitchFamily="34" charset="0"/>
                <a:cs typeface="Arial" panose="020B0604020202020204" pitchFamily="34" charset="0"/>
              </a:rPr>
              <a:t>S</a:t>
            </a:r>
            <a:r>
              <a:rPr lang="en-US" sz="1800" b="0" i="0" u="none" strike="noStrike" baseline="0" dirty="0">
                <a:latin typeface="Arial" panose="020B0604020202020204" pitchFamily="34" charset="0"/>
                <a:cs typeface="Arial" panose="020B0604020202020204" pitchFamily="34" charset="0"/>
              </a:rPr>
              <a:t>ome practitioners have attempted to deal with the covariance structure rather than the mean giving rise to what are commonly known as risk-parity portfolios.</a:t>
            </a:r>
          </a:p>
          <a:p>
            <a:pPr algn="l"/>
            <a:endParaRPr lang="en-US" dirty="0">
              <a:latin typeface="Arial" panose="020B0604020202020204" pitchFamily="34" charset="0"/>
              <a:cs typeface="Arial" panose="020B0604020202020204" pitchFamily="34" charset="0"/>
            </a:endParaRPr>
          </a:p>
          <a:p>
            <a:pPr algn="l"/>
            <a:r>
              <a:rPr lang="en-US" dirty="0">
                <a:latin typeface="Arial" panose="020B0604020202020204" pitchFamily="34" charset="0"/>
                <a:cs typeface="Arial" panose="020B0604020202020204" pitchFamily="34" charset="0"/>
              </a:rPr>
              <a:t>Instabilities due to the covariance matrix can be attributed to two causes:</a:t>
            </a:r>
          </a:p>
          <a:p>
            <a:pPr lvl="1" algn="just">
              <a:buFont typeface="+mj-lt"/>
              <a:buAutoNum type="arabicPeriod"/>
            </a:pPr>
            <a:r>
              <a:rPr lang="en-US" sz="1800" dirty="0">
                <a:latin typeface="Arial" panose="020B0604020202020204" pitchFamily="34" charset="0"/>
                <a:cs typeface="Arial" panose="020B0604020202020204" pitchFamily="34" charset="0"/>
              </a:rPr>
              <a:t>Instability due to noise in the covariance matrix</a:t>
            </a:r>
          </a:p>
          <a:p>
            <a:pPr lvl="1" algn="just">
              <a:buFont typeface="+mj-lt"/>
              <a:buAutoNum type="arabicPeriod"/>
            </a:pPr>
            <a:r>
              <a:rPr lang="en-US" sz="1800" dirty="0">
                <a:latin typeface="Arial" panose="020B0604020202020204" pitchFamily="34" charset="0"/>
                <a:cs typeface="Arial" panose="020B0604020202020204" pitchFamily="34" charset="0"/>
              </a:rPr>
              <a:t>Instability due to the signal structure</a:t>
            </a:r>
          </a:p>
        </p:txBody>
      </p:sp>
    </p:spTree>
    <p:extLst>
      <p:ext uri="{BB962C8B-B14F-4D97-AF65-F5344CB8AC3E}">
        <p14:creationId xmlns:p14="http://schemas.microsoft.com/office/powerpoint/2010/main" val="369469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52F22-C480-4D3C-B9FA-23BFCB21801D}"/>
              </a:ext>
            </a:extLst>
          </p:cNvPr>
          <p:cNvSpPr>
            <a:spLocks noGrp="1"/>
          </p:cNvSpPr>
          <p:nvPr>
            <p:ph type="title"/>
          </p:nvPr>
        </p:nvSpPr>
        <p:spPr>
          <a:xfrm>
            <a:off x="677334" y="609600"/>
            <a:ext cx="8596668" cy="828583"/>
          </a:xfrm>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58A81809-63ED-4BDC-9823-F6C06CA489D4}"/>
              </a:ext>
            </a:extLst>
          </p:cNvPr>
          <p:cNvSpPr>
            <a:spLocks noGrp="1"/>
          </p:cNvSpPr>
          <p:nvPr>
            <p:ph idx="1"/>
          </p:nvPr>
        </p:nvSpPr>
        <p:spPr>
          <a:xfrm>
            <a:off x="677334" y="1438183"/>
            <a:ext cx="8596668" cy="4603179"/>
          </a:xfrm>
        </p:spPr>
        <p:txBody>
          <a:bodyPr>
            <a:normAutofit/>
          </a:bodyPr>
          <a:lstStyle/>
          <a:p>
            <a:pPr algn="l"/>
            <a:r>
              <a:rPr lang="en-US" dirty="0"/>
              <a:t>Consider X to be the return data of N assets over T observations</a:t>
            </a:r>
          </a:p>
          <a:p>
            <a:pPr algn="l"/>
            <a:endParaRPr lang="en-US" dirty="0"/>
          </a:p>
          <a:p>
            <a:pPr algn="l"/>
            <a:r>
              <a:rPr lang="en-US" dirty="0"/>
              <a:t>Expected return: </a:t>
            </a:r>
          </a:p>
          <a:p>
            <a:pPr algn="l"/>
            <a:endParaRPr lang="en-IN" dirty="0"/>
          </a:p>
          <a:p>
            <a:pPr algn="l"/>
            <a:r>
              <a:rPr lang="en-IN" dirty="0"/>
              <a:t>Covariance of returns:</a:t>
            </a:r>
          </a:p>
          <a:p>
            <a:pPr marL="0" indent="0" algn="l">
              <a:buNone/>
            </a:pPr>
            <a:endParaRPr lang="en-IN" dirty="0"/>
          </a:p>
          <a:p>
            <a:pPr algn="l"/>
            <a:r>
              <a:rPr lang="en-IN" dirty="0"/>
              <a:t>Constraint characteristic vector: </a:t>
            </a:r>
          </a:p>
          <a:p>
            <a:pPr lvl="2">
              <a:buFont typeface="+mj-lt"/>
              <a:buAutoNum type="arabicPeriod"/>
            </a:pPr>
            <a:r>
              <a:rPr lang="en-IN" sz="1700" dirty="0"/>
              <a:t>Minimum Variance Portfolio</a:t>
            </a:r>
            <a:r>
              <a:rPr lang="en-IN" dirty="0"/>
              <a:t>: </a:t>
            </a:r>
          </a:p>
          <a:p>
            <a:pPr lvl="2">
              <a:buFont typeface="+mj-lt"/>
              <a:buAutoNum type="arabicPeriod"/>
            </a:pPr>
            <a:r>
              <a:rPr lang="en-IN" sz="1600" dirty="0"/>
              <a:t>Maximum Sharpe Ratio Portfolio: </a:t>
            </a:r>
          </a:p>
          <a:p>
            <a:pPr algn="l"/>
            <a:endParaRPr lang="en-IN" dirty="0"/>
          </a:p>
        </p:txBody>
      </p:sp>
      <p:graphicFrame>
        <p:nvGraphicFramePr>
          <p:cNvPr id="4" name="Object 3">
            <a:extLst>
              <a:ext uri="{FF2B5EF4-FFF2-40B4-BE49-F238E27FC236}">
                <a16:creationId xmlns:a16="http://schemas.microsoft.com/office/drawing/2014/main" id="{26A7FF7E-BE9B-484F-A1EC-7E00C9999F2C}"/>
              </a:ext>
            </a:extLst>
          </p:cNvPr>
          <p:cNvGraphicFramePr>
            <a:graphicFrameLocks noChangeAspect="1"/>
          </p:cNvGraphicFramePr>
          <p:nvPr>
            <p:extLst>
              <p:ext uri="{D42A27DB-BD31-4B8C-83A1-F6EECF244321}">
                <p14:modId xmlns:p14="http://schemas.microsoft.com/office/powerpoint/2010/main" val="2850489326"/>
              </p:ext>
            </p:extLst>
          </p:nvPr>
        </p:nvGraphicFramePr>
        <p:xfrm>
          <a:off x="6639614" y="2437871"/>
          <a:ext cx="2100933" cy="1806300"/>
        </p:xfrm>
        <a:graphic>
          <a:graphicData uri="http://schemas.openxmlformats.org/presentationml/2006/ole">
            <mc:AlternateContent xmlns:mc="http://schemas.openxmlformats.org/markup-compatibility/2006">
              <mc:Choice xmlns:v="urn:schemas-microsoft-com:vml" Requires="v">
                <p:oleObj spid="_x0000_s1049" name="Equation" r:id="rId3" imgW="698400" imgH="660240" progId="Equation.DSMT4">
                  <p:embed/>
                </p:oleObj>
              </mc:Choice>
              <mc:Fallback>
                <p:oleObj name="Equation" r:id="rId3" imgW="698400" imgH="660240" progId="Equation.DSMT4">
                  <p:embed/>
                  <p:pic>
                    <p:nvPicPr>
                      <p:cNvPr id="0" name=""/>
                      <p:cNvPicPr/>
                      <p:nvPr/>
                    </p:nvPicPr>
                    <p:blipFill>
                      <a:blip r:embed="rId4"/>
                      <a:stretch>
                        <a:fillRect/>
                      </a:stretch>
                    </p:blipFill>
                    <p:spPr>
                      <a:xfrm>
                        <a:off x="6639614" y="2437871"/>
                        <a:ext cx="2100933" cy="18063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38EF2E7D-B32E-47DC-954E-E841A39BE161}"/>
              </a:ext>
            </a:extLst>
          </p:cNvPr>
          <p:cNvGraphicFramePr>
            <a:graphicFrameLocks noChangeAspect="1"/>
          </p:cNvGraphicFramePr>
          <p:nvPr>
            <p:extLst>
              <p:ext uri="{D42A27DB-BD31-4B8C-83A1-F6EECF244321}">
                <p14:modId xmlns:p14="http://schemas.microsoft.com/office/powerpoint/2010/main" val="3610993055"/>
              </p:ext>
            </p:extLst>
          </p:nvPr>
        </p:nvGraphicFramePr>
        <p:xfrm>
          <a:off x="2958735" y="2167681"/>
          <a:ext cx="1399478" cy="439053"/>
        </p:xfrm>
        <a:graphic>
          <a:graphicData uri="http://schemas.openxmlformats.org/presentationml/2006/ole">
            <mc:AlternateContent xmlns:mc="http://schemas.openxmlformats.org/markup-compatibility/2006">
              <mc:Choice xmlns:v="urn:schemas-microsoft-com:vml" Requires="v">
                <p:oleObj spid="_x0000_s1050" name="Equation" r:id="rId5" imgW="647640" imgH="203040" progId="Equation.DSMT4">
                  <p:embed/>
                </p:oleObj>
              </mc:Choice>
              <mc:Fallback>
                <p:oleObj name="Equation" r:id="rId5" imgW="647640" imgH="203040" progId="Equation.DSMT4">
                  <p:embed/>
                  <p:pic>
                    <p:nvPicPr>
                      <p:cNvPr id="0" name=""/>
                      <p:cNvPicPr/>
                      <p:nvPr/>
                    </p:nvPicPr>
                    <p:blipFill>
                      <a:blip r:embed="rId6"/>
                      <a:stretch>
                        <a:fillRect/>
                      </a:stretch>
                    </p:blipFill>
                    <p:spPr>
                      <a:xfrm>
                        <a:off x="2958735" y="2167681"/>
                        <a:ext cx="1399478" cy="439053"/>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FC5E4D2E-D9F7-4956-AFE4-35D577E37944}"/>
              </a:ext>
            </a:extLst>
          </p:cNvPr>
          <p:cNvGraphicFramePr>
            <a:graphicFrameLocks noChangeAspect="1"/>
          </p:cNvGraphicFramePr>
          <p:nvPr>
            <p:extLst>
              <p:ext uri="{D42A27DB-BD31-4B8C-83A1-F6EECF244321}">
                <p14:modId xmlns:p14="http://schemas.microsoft.com/office/powerpoint/2010/main" val="2409729144"/>
              </p:ext>
            </p:extLst>
          </p:nvPr>
        </p:nvGraphicFramePr>
        <p:xfrm>
          <a:off x="3508016" y="3021026"/>
          <a:ext cx="1714434" cy="449687"/>
        </p:xfrm>
        <a:graphic>
          <a:graphicData uri="http://schemas.openxmlformats.org/presentationml/2006/ole">
            <mc:AlternateContent xmlns:mc="http://schemas.openxmlformats.org/markup-compatibility/2006">
              <mc:Choice xmlns:v="urn:schemas-microsoft-com:vml" Requires="v">
                <p:oleObj spid="_x0000_s1051" name="Equation" r:id="rId7" imgW="774360" imgH="203040" progId="Equation.DSMT4">
                  <p:embed/>
                </p:oleObj>
              </mc:Choice>
              <mc:Fallback>
                <p:oleObj name="Equation" r:id="rId7" imgW="774360" imgH="203040" progId="Equation.DSMT4">
                  <p:embed/>
                  <p:pic>
                    <p:nvPicPr>
                      <p:cNvPr id="0" name=""/>
                      <p:cNvPicPr/>
                      <p:nvPr/>
                    </p:nvPicPr>
                    <p:blipFill>
                      <a:blip r:embed="rId8"/>
                      <a:stretch>
                        <a:fillRect/>
                      </a:stretch>
                    </p:blipFill>
                    <p:spPr>
                      <a:xfrm>
                        <a:off x="3508016" y="3021026"/>
                        <a:ext cx="1714434" cy="449687"/>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DCB238C4-2BDE-4E6D-B86A-074F3C665CD4}"/>
              </a:ext>
            </a:extLst>
          </p:cNvPr>
          <p:cNvGraphicFramePr>
            <a:graphicFrameLocks noChangeAspect="1"/>
          </p:cNvGraphicFramePr>
          <p:nvPr>
            <p:extLst>
              <p:ext uri="{D42A27DB-BD31-4B8C-83A1-F6EECF244321}">
                <p14:modId xmlns:p14="http://schemas.microsoft.com/office/powerpoint/2010/main" val="2787323677"/>
              </p:ext>
            </p:extLst>
          </p:nvPr>
        </p:nvGraphicFramePr>
        <p:xfrm>
          <a:off x="4682748" y="4211558"/>
          <a:ext cx="728237" cy="392128"/>
        </p:xfrm>
        <a:graphic>
          <a:graphicData uri="http://schemas.openxmlformats.org/presentationml/2006/ole">
            <mc:AlternateContent xmlns:mc="http://schemas.openxmlformats.org/markup-compatibility/2006">
              <mc:Choice xmlns:v="urn:schemas-microsoft-com:vml" Requires="v">
                <p:oleObj spid="_x0000_s1052" name="Equation" r:id="rId9" imgW="330120" imgH="177480" progId="Equation.DSMT4">
                  <p:embed/>
                </p:oleObj>
              </mc:Choice>
              <mc:Fallback>
                <p:oleObj name="Equation" r:id="rId9" imgW="330120" imgH="177480" progId="Equation.DSMT4">
                  <p:embed/>
                  <p:pic>
                    <p:nvPicPr>
                      <p:cNvPr id="0" name=""/>
                      <p:cNvPicPr/>
                      <p:nvPr/>
                    </p:nvPicPr>
                    <p:blipFill>
                      <a:blip r:embed="rId10"/>
                      <a:stretch>
                        <a:fillRect/>
                      </a:stretch>
                    </p:blipFill>
                    <p:spPr>
                      <a:xfrm>
                        <a:off x="4682748" y="4211558"/>
                        <a:ext cx="728237" cy="392128"/>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1C60A176-9F38-4F07-84A9-5BF19031ACD9}"/>
              </a:ext>
            </a:extLst>
          </p:cNvPr>
          <p:cNvGraphicFramePr>
            <a:graphicFrameLocks noChangeAspect="1"/>
          </p:cNvGraphicFramePr>
          <p:nvPr>
            <p:extLst>
              <p:ext uri="{D42A27DB-BD31-4B8C-83A1-F6EECF244321}">
                <p14:modId xmlns:p14="http://schemas.microsoft.com/office/powerpoint/2010/main" val="3060321462"/>
              </p:ext>
            </p:extLst>
          </p:nvPr>
        </p:nvGraphicFramePr>
        <p:xfrm>
          <a:off x="4975668" y="4661429"/>
          <a:ext cx="904912" cy="392128"/>
        </p:xfrm>
        <a:graphic>
          <a:graphicData uri="http://schemas.openxmlformats.org/presentationml/2006/ole">
            <mc:AlternateContent xmlns:mc="http://schemas.openxmlformats.org/markup-compatibility/2006">
              <mc:Choice xmlns:v="urn:schemas-microsoft-com:vml" Requires="v">
                <p:oleObj spid="_x0000_s1053" name="Equation" r:id="rId11" imgW="380880" imgH="164880" progId="Equation.DSMT4">
                  <p:embed/>
                </p:oleObj>
              </mc:Choice>
              <mc:Fallback>
                <p:oleObj name="Equation" r:id="rId11" imgW="380880" imgH="164880" progId="Equation.DSMT4">
                  <p:embed/>
                  <p:pic>
                    <p:nvPicPr>
                      <p:cNvPr id="0" name=""/>
                      <p:cNvPicPr/>
                      <p:nvPr/>
                    </p:nvPicPr>
                    <p:blipFill>
                      <a:blip r:embed="rId12"/>
                      <a:stretch>
                        <a:fillRect/>
                      </a:stretch>
                    </p:blipFill>
                    <p:spPr>
                      <a:xfrm>
                        <a:off x="4975668" y="4661429"/>
                        <a:ext cx="904912" cy="392128"/>
                      </a:xfrm>
                      <a:prstGeom prst="rect">
                        <a:avLst/>
                      </a:prstGeom>
                    </p:spPr>
                  </p:pic>
                </p:oleObj>
              </mc:Fallback>
            </mc:AlternateContent>
          </a:graphicData>
        </a:graphic>
      </p:graphicFrame>
    </p:spTree>
    <p:extLst>
      <p:ext uri="{BB962C8B-B14F-4D97-AF65-F5344CB8AC3E}">
        <p14:creationId xmlns:p14="http://schemas.microsoft.com/office/powerpoint/2010/main" val="3259518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52F22-C480-4D3C-B9FA-23BFCB21801D}"/>
              </a:ext>
            </a:extLst>
          </p:cNvPr>
          <p:cNvSpPr>
            <a:spLocks noGrp="1"/>
          </p:cNvSpPr>
          <p:nvPr>
            <p:ph type="title"/>
          </p:nvPr>
        </p:nvSpPr>
        <p:spPr>
          <a:xfrm>
            <a:off x="677334" y="609600"/>
            <a:ext cx="8596668" cy="828583"/>
          </a:xfrm>
        </p:spPr>
        <p:txBody>
          <a:bodyPr/>
          <a:lstStyle/>
          <a:p>
            <a:r>
              <a:rPr lang="en-US" dirty="0"/>
              <a:t>Instability Due to Noise</a:t>
            </a:r>
            <a:endParaRPr lang="en-IN" dirty="0"/>
          </a:p>
        </p:txBody>
      </p:sp>
      <p:sp>
        <p:nvSpPr>
          <p:cNvPr id="3" name="Content Placeholder 2">
            <a:extLst>
              <a:ext uri="{FF2B5EF4-FFF2-40B4-BE49-F238E27FC236}">
                <a16:creationId xmlns:a16="http://schemas.microsoft.com/office/drawing/2014/main" id="{58A81809-63ED-4BDC-9823-F6C06CA489D4}"/>
              </a:ext>
            </a:extLst>
          </p:cNvPr>
          <p:cNvSpPr>
            <a:spLocks noGrp="1"/>
          </p:cNvSpPr>
          <p:nvPr>
            <p:ph idx="1"/>
          </p:nvPr>
        </p:nvSpPr>
        <p:spPr>
          <a:xfrm>
            <a:off x="573639" y="1287354"/>
            <a:ext cx="8596668" cy="5283128"/>
          </a:xfrm>
        </p:spPr>
        <p:txBody>
          <a:bodyPr/>
          <a:lstStyle/>
          <a:p>
            <a:pPr marL="0" indent="0" algn="l">
              <a:buNone/>
            </a:pPr>
            <a:endParaRPr lang="en-US" dirty="0"/>
          </a:p>
          <a:p>
            <a:pPr algn="l"/>
            <a:r>
              <a:rPr lang="en-US" dirty="0"/>
              <a:t>The non linear relationship between the inverse and determinant can lead to magnification of any errors within the covariance matrix. Such a matrix is said to be ill-conditioned.</a:t>
            </a:r>
          </a:p>
          <a:p>
            <a:pPr marL="0" indent="0" algn="l">
              <a:buNone/>
            </a:pPr>
            <a:endParaRPr lang="en-US" dirty="0"/>
          </a:p>
          <a:p>
            <a:pPr algn="l"/>
            <a:endParaRPr lang="en-US" dirty="0"/>
          </a:p>
          <a:p>
            <a:pPr algn="l"/>
            <a:r>
              <a:rPr lang="en-US" dirty="0"/>
              <a:t>Eigen Value Decomposition allows us to partition the covariance matrix as eigen values and eigen vectors.</a:t>
            </a:r>
          </a:p>
          <a:p>
            <a:pPr algn="l"/>
            <a:r>
              <a:rPr lang="en-US" dirty="0"/>
              <a:t>The condition number is said to be the ratio between the absolute values of the maximal and minimal eigen values. Since the determinant of the covariance is simply the product of the eigen values, a high condition number would lead to ill conditioning</a:t>
            </a:r>
          </a:p>
          <a:p>
            <a:pPr algn="l"/>
            <a:endParaRPr lang="en-IN" dirty="0"/>
          </a:p>
        </p:txBody>
      </p:sp>
      <p:graphicFrame>
        <p:nvGraphicFramePr>
          <p:cNvPr id="4" name="Object 3">
            <a:extLst>
              <a:ext uri="{FF2B5EF4-FFF2-40B4-BE49-F238E27FC236}">
                <a16:creationId xmlns:a16="http://schemas.microsoft.com/office/drawing/2014/main" id="{77046787-3A34-4AA9-B488-4AC937FE0254}"/>
              </a:ext>
            </a:extLst>
          </p:cNvPr>
          <p:cNvGraphicFramePr>
            <a:graphicFrameLocks noChangeAspect="1"/>
          </p:cNvGraphicFramePr>
          <p:nvPr>
            <p:extLst>
              <p:ext uri="{D42A27DB-BD31-4B8C-83A1-F6EECF244321}">
                <p14:modId xmlns:p14="http://schemas.microsoft.com/office/powerpoint/2010/main" val="3711614460"/>
              </p:ext>
            </p:extLst>
          </p:nvPr>
        </p:nvGraphicFramePr>
        <p:xfrm>
          <a:off x="3785994" y="2524634"/>
          <a:ext cx="1792599" cy="626540"/>
        </p:xfrm>
        <a:graphic>
          <a:graphicData uri="http://schemas.openxmlformats.org/presentationml/2006/ole">
            <mc:AlternateContent xmlns:mc="http://schemas.openxmlformats.org/markup-compatibility/2006">
              <mc:Choice xmlns:v="urn:schemas-microsoft-com:vml" Requires="v">
                <p:oleObj spid="_x0000_s2061" name="Equation" r:id="rId3" imgW="1307880" imgH="457200" progId="Equation.DSMT4">
                  <p:embed/>
                </p:oleObj>
              </mc:Choice>
              <mc:Fallback>
                <p:oleObj name="Equation" r:id="rId3" imgW="1307880" imgH="457200" progId="Equation.DSMT4">
                  <p:embed/>
                  <p:pic>
                    <p:nvPicPr>
                      <p:cNvPr id="0" name=""/>
                      <p:cNvPicPr/>
                      <p:nvPr/>
                    </p:nvPicPr>
                    <p:blipFill>
                      <a:blip r:embed="rId4"/>
                      <a:stretch>
                        <a:fillRect/>
                      </a:stretch>
                    </p:blipFill>
                    <p:spPr>
                      <a:xfrm>
                        <a:off x="3785994" y="2524634"/>
                        <a:ext cx="1792599" cy="62654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FD98AB53-6C2B-4DAB-92B1-EA5485371F84}"/>
              </a:ext>
            </a:extLst>
          </p:cNvPr>
          <p:cNvGraphicFramePr>
            <a:graphicFrameLocks noChangeAspect="1"/>
          </p:cNvGraphicFramePr>
          <p:nvPr>
            <p:extLst>
              <p:ext uri="{D42A27DB-BD31-4B8C-83A1-F6EECF244321}">
                <p14:modId xmlns:p14="http://schemas.microsoft.com/office/powerpoint/2010/main" val="772531947"/>
              </p:ext>
            </p:extLst>
          </p:nvPr>
        </p:nvGraphicFramePr>
        <p:xfrm>
          <a:off x="3991453" y="5368156"/>
          <a:ext cx="1381679" cy="757695"/>
        </p:xfrm>
        <a:graphic>
          <a:graphicData uri="http://schemas.openxmlformats.org/presentationml/2006/ole">
            <mc:AlternateContent xmlns:mc="http://schemas.openxmlformats.org/markup-compatibility/2006">
              <mc:Choice xmlns:v="urn:schemas-microsoft-com:vml" Requires="v">
                <p:oleObj spid="_x0000_s2062" name="Equation" r:id="rId5" imgW="787320" imgH="431640" progId="Equation.DSMT4">
                  <p:embed/>
                </p:oleObj>
              </mc:Choice>
              <mc:Fallback>
                <p:oleObj name="Equation" r:id="rId5" imgW="787320" imgH="431640" progId="Equation.DSMT4">
                  <p:embed/>
                  <p:pic>
                    <p:nvPicPr>
                      <p:cNvPr id="0" name=""/>
                      <p:cNvPicPr/>
                      <p:nvPr/>
                    </p:nvPicPr>
                    <p:blipFill>
                      <a:blip r:embed="rId6"/>
                      <a:stretch>
                        <a:fillRect/>
                      </a:stretch>
                    </p:blipFill>
                    <p:spPr>
                      <a:xfrm>
                        <a:off x="3991453" y="5368156"/>
                        <a:ext cx="1381679" cy="757695"/>
                      </a:xfrm>
                      <a:prstGeom prst="rect">
                        <a:avLst/>
                      </a:prstGeom>
                    </p:spPr>
                  </p:pic>
                </p:oleObj>
              </mc:Fallback>
            </mc:AlternateContent>
          </a:graphicData>
        </a:graphic>
      </p:graphicFrame>
    </p:spTree>
    <p:extLst>
      <p:ext uri="{BB962C8B-B14F-4D97-AF65-F5344CB8AC3E}">
        <p14:creationId xmlns:p14="http://schemas.microsoft.com/office/powerpoint/2010/main" val="3055296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52F22-C480-4D3C-B9FA-23BFCB21801D}"/>
              </a:ext>
            </a:extLst>
          </p:cNvPr>
          <p:cNvSpPr>
            <a:spLocks noGrp="1"/>
          </p:cNvSpPr>
          <p:nvPr>
            <p:ph type="title"/>
          </p:nvPr>
        </p:nvSpPr>
        <p:spPr>
          <a:xfrm>
            <a:off x="677334" y="609600"/>
            <a:ext cx="8596668" cy="828583"/>
          </a:xfrm>
        </p:spPr>
        <p:txBody>
          <a:bodyPr>
            <a:normAutofit/>
          </a:bodyPr>
          <a:lstStyle/>
          <a:p>
            <a:r>
              <a:rPr lang="en-US" sz="2800" dirty="0" err="1"/>
              <a:t>Marcenko-Pastur</a:t>
            </a:r>
            <a:r>
              <a:rPr lang="en-US" sz="2800" dirty="0"/>
              <a:t> Theorem</a:t>
            </a:r>
            <a:endParaRPr lang="en-IN" sz="2800" dirty="0"/>
          </a:p>
        </p:txBody>
      </p:sp>
      <p:sp>
        <p:nvSpPr>
          <p:cNvPr id="3" name="Content Placeholder 2">
            <a:extLst>
              <a:ext uri="{FF2B5EF4-FFF2-40B4-BE49-F238E27FC236}">
                <a16:creationId xmlns:a16="http://schemas.microsoft.com/office/drawing/2014/main" id="{58A81809-63ED-4BDC-9823-F6C06CA489D4}"/>
              </a:ext>
            </a:extLst>
          </p:cNvPr>
          <p:cNvSpPr>
            <a:spLocks noGrp="1"/>
          </p:cNvSpPr>
          <p:nvPr>
            <p:ph idx="1"/>
          </p:nvPr>
        </p:nvSpPr>
        <p:spPr>
          <a:xfrm>
            <a:off x="677334" y="1438183"/>
            <a:ext cx="8596668" cy="4603179"/>
          </a:xfrm>
        </p:spPr>
        <p:txBody>
          <a:bodyPr/>
          <a:lstStyle/>
          <a:p>
            <a:pPr algn="l"/>
            <a:r>
              <a:rPr lang="en-US" sz="1800" b="0" i="0" u="none" strike="noStrike" baseline="0" dirty="0">
                <a:latin typeface="Arial" panose="020B0604020202020204" pitchFamily="34" charset="0"/>
                <a:cs typeface="Arial" panose="020B0604020202020204" pitchFamily="34" charset="0"/>
              </a:rPr>
              <a:t>The </a:t>
            </a:r>
            <a:r>
              <a:rPr lang="en-US" sz="1800" b="0" i="0" u="none" strike="noStrike" baseline="0" dirty="0" err="1">
                <a:latin typeface="Arial" panose="020B0604020202020204" pitchFamily="34" charset="0"/>
                <a:cs typeface="Arial" panose="020B0604020202020204" pitchFamily="34" charset="0"/>
              </a:rPr>
              <a:t>Marcenko</a:t>
            </a:r>
            <a:r>
              <a:rPr lang="en-US" dirty="0" err="1">
                <a:latin typeface="Arial" panose="020B0604020202020204" pitchFamily="34" charset="0"/>
                <a:cs typeface="Arial" panose="020B0604020202020204" pitchFamily="34" charset="0"/>
              </a:rPr>
              <a:t>-</a:t>
            </a:r>
            <a:r>
              <a:rPr lang="en-US" sz="1800" b="0" i="0" u="none" strike="noStrike" baseline="0" dirty="0" err="1">
                <a:latin typeface="Arial" panose="020B0604020202020204" pitchFamily="34" charset="0"/>
                <a:cs typeface="Arial" panose="020B0604020202020204" pitchFamily="34" charset="0"/>
              </a:rPr>
              <a:t>Pastur</a:t>
            </a:r>
            <a:r>
              <a:rPr lang="en-US" sz="1800" b="0" i="0" u="none" strike="noStrike" baseline="0" dirty="0">
                <a:latin typeface="Arial" panose="020B0604020202020204" pitchFamily="34" charset="0"/>
                <a:cs typeface="Arial" panose="020B0604020202020204" pitchFamily="34" charset="0"/>
              </a:rPr>
              <a:t> Theorem states that, for a collection of </a:t>
            </a:r>
            <a:r>
              <a:rPr lang="en-US" dirty="0">
                <a:latin typeface="Arial" panose="020B0604020202020204" pitchFamily="34" charset="0"/>
                <a:cs typeface="Arial" panose="020B0604020202020204" pitchFamily="34" charset="0"/>
              </a:rPr>
              <a:t>IID observations from a given distribution, as the ratio T/N increases,  the eigen values of the associated covariance matrix moves towards the distribution below, </a:t>
            </a:r>
          </a:p>
          <a:p>
            <a:pPr algn="l"/>
            <a:endParaRPr lang="en-US" dirty="0">
              <a:latin typeface="Arial" panose="020B0604020202020204" pitchFamily="34" charset="0"/>
              <a:cs typeface="Arial" panose="020B0604020202020204" pitchFamily="34" charset="0"/>
            </a:endParaRPr>
          </a:p>
          <a:p>
            <a:pPr algn="l"/>
            <a:endParaRPr lang="en-US" dirty="0">
              <a:latin typeface="Arial" panose="020B0604020202020204" pitchFamily="34" charset="0"/>
              <a:cs typeface="Arial" panose="020B0604020202020204" pitchFamily="34" charset="0"/>
            </a:endParaRPr>
          </a:p>
          <a:p>
            <a:pPr algn="l"/>
            <a:endParaRPr lang="en-US" dirty="0">
              <a:latin typeface="Arial" panose="020B0604020202020204" pitchFamily="34" charset="0"/>
              <a:cs typeface="Arial" panose="020B0604020202020204" pitchFamily="34" charset="0"/>
            </a:endParaRPr>
          </a:p>
          <a:p>
            <a:pPr algn="l"/>
            <a:r>
              <a:rPr lang="en-US" dirty="0">
                <a:latin typeface="Arial" panose="020B0604020202020204" pitchFamily="34" charset="0"/>
                <a:cs typeface="Arial" panose="020B0604020202020204" pitchFamily="34" charset="0"/>
              </a:rPr>
              <a:t>In other words, the eigen values associated with randomness follows the above distribution (</a:t>
            </a:r>
            <a:r>
              <a:rPr lang="en-US" dirty="0" err="1">
                <a:latin typeface="Arial" panose="020B0604020202020204" pitchFamily="34" charset="0"/>
                <a:cs typeface="Arial" panose="020B0604020202020204" pitchFamily="34" charset="0"/>
              </a:rPr>
              <a:t>Marcenko-Pastur</a:t>
            </a:r>
            <a:r>
              <a:rPr lang="en-US" dirty="0">
                <a:latin typeface="Arial" panose="020B0604020202020204" pitchFamily="34" charset="0"/>
                <a:cs typeface="Arial" panose="020B0604020202020204" pitchFamily="34" charset="0"/>
              </a:rPr>
              <a:t> distribution).</a:t>
            </a:r>
          </a:p>
          <a:p>
            <a:pPr algn="l"/>
            <a:r>
              <a:rPr lang="en-US" dirty="0">
                <a:latin typeface="Arial" panose="020B0604020202020204" pitchFamily="34" charset="0"/>
                <a:cs typeface="Arial" panose="020B0604020202020204" pitchFamily="34" charset="0"/>
              </a:rPr>
              <a:t>This allows us to segregate eigen values due to random noise and eigen values due to signal. </a:t>
            </a:r>
          </a:p>
          <a:p>
            <a:pPr algn="l"/>
            <a:r>
              <a:rPr lang="en-US" dirty="0">
                <a:latin typeface="Arial" panose="020B0604020202020204" pitchFamily="34" charset="0"/>
                <a:cs typeface="Arial" panose="020B0604020202020204" pitchFamily="34" charset="0"/>
              </a:rPr>
              <a:t>Once we can find identify the threshold eigen value, we can specifically treat those eigen values associated with noise., without losing information from the signal.     </a:t>
            </a:r>
          </a:p>
          <a:p>
            <a:pPr algn="l"/>
            <a:endParaRPr lang="en-US" sz="1800" b="0" i="0" u="none" strike="noStrike" baseline="0" dirty="0">
              <a:latin typeface="Arial" panose="020B0604020202020204" pitchFamily="34" charset="0"/>
              <a:cs typeface="Arial" panose="020B0604020202020204" pitchFamily="34" charset="0"/>
            </a:endParaRPr>
          </a:p>
          <a:p>
            <a:pPr algn="l"/>
            <a:endParaRPr lang="en-IN" dirty="0"/>
          </a:p>
        </p:txBody>
      </p:sp>
      <p:graphicFrame>
        <p:nvGraphicFramePr>
          <p:cNvPr id="5" name="Object 4">
            <a:extLst>
              <a:ext uri="{FF2B5EF4-FFF2-40B4-BE49-F238E27FC236}">
                <a16:creationId xmlns:a16="http://schemas.microsoft.com/office/drawing/2014/main" id="{3CF97715-4B76-4151-BEA4-42E814CD9D61}"/>
              </a:ext>
            </a:extLst>
          </p:cNvPr>
          <p:cNvGraphicFramePr>
            <a:graphicFrameLocks noChangeAspect="1"/>
          </p:cNvGraphicFramePr>
          <p:nvPr>
            <p:extLst>
              <p:ext uri="{D42A27DB-BD31-4B8C-83A1-F6EECF244321}">
                <p14:modId xmlns:p14="http://schemas.microsoft.com/office/powerpoint/2010/main" val="2275341316"/>
              </p:ext>
            </p:extLst>
          </p:nvPr>
        </p:nvGraphicFramePr>
        <p:xfrm>
          <a:off x="2642451" y="2411413"/>
          <a:ext cx="4124862" cy="1017587"/>
        </p:xfrm>
        <a:graphic>
          <a:graphicData uri="http://schemas.openxmlformats.org/presentationml/2006/ole">
            <mc:AlternateContent xmlns:mc="http://schemas.openxmlformats.org/markup-compatibility/2006">
              <mc:Choice xmlns:v="urn:schemas-microsoft-com:vml" Requires="v">
                <p:oleObj spid="_x0000_s3080" name="Equation" r:id="rId3" imgW="2882880" imgH="711000" progId="Equation.DSMT4">
                  <p:embed/>
                </p:oleObj>
              </mc:Choice>
              <mc:Fallback>
                <p:oleObj name="Equation" r:id="rId3" imgW="2882880" imgH="711000" progId="Equation.DSMT4">
                  <p:embed/>
                  <p:pic>
                    <p:nvPicPr>
                      <p:cNvPr id="0" name=""/>
                      <p:cNvPicPr/>
                      <p:nvPr/>
                    </p:nvPicPr>
                    <p:blipFill>
                      <a:blip r:embed="rId4"/>
                      <a:stretch>
                        <a:fillRect/>
                      </a:stretch>
                    </p:blipFill>
                    <p:spPr>
                      <a:xfrm>
                        <a:off x="2642451" y="2411413"/>
                        <a:ext cx="4124862" cy="1017587"/>
                      </a:xfrm>
                      <a:prstGeom prst="rect">
                        <a:avLst/>
                      </a:prstGeom>
                    </p:spPr>
                  </p:pic>
                </p:oleObj>
              </mc:Fallback>
            </mc:AlternateContent>
          </a:graphicData>
        </a:graphic>
      </p:graphicFrame>
    </p:spTree>
    <p:extLst>
      <p:ext uri="{BB962C8B-B14F-4D97-AF65-F5344CB8AC3E}">
        <p14:creationId xmlns:p14="http://schemas.microsoft.com/office/powerpoint/2010/main" val="2856740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52F22-C480-4D3C-B9FA-23BFCB21801D}"/>
              </a:ext>
            </a:extLst>
          </p:cNvPr>
          <p:cNvSpPr>
            <a:spLocks noGrp="1"/>
          </p:cNvSpPr>
          <p:nvPr>
            <p:ph type="title"/>
          </p:nvPr>
        </p:nvSpPr>
        <p:spPr>
          <a:xfrm>
            <a:off x="677334" y="609600"/>
            <a:ext cx="8596668" cy="828583"/>
          </a:xfrm>
        </p:spPr>
        <p:txBody>
          <a:bodyPr/>
          <a:lstStyle/>
          <a:p>
            <a:r>
              <a:rPr lang="en-US" dirty="0"/>
              <a:t>Instability Due to Signal</a:t>
            </a:r>
            <a:endParaRPr lang="en-IN" dirty="0"/>
          </a:p>
        </p:txBody>
      </p:sp>
      <p:sp>
        <p:nvSpPr>
          <p:cNvPr id="3" name="Content Placeholder 2">
            <a:extLst>
              <a:ext uri="{FF2B5EF4-FFF2-40B4-BE49-F238E27FC236}">
                <a16:creationId xmlns:a16="http://schemas.microsoft.com/office/drawing/2014/main" id="{58A81809-63ED-4BDC-9823-F6C06CA489D4}"/>
              </a:ext>
            </a:extLst>
          </p:cNvPr>
          <p:cNvSpPr>
            <a:spLocks noGrp="1"/>
          </p:cNvSpPr>
          <p:nvPr>
            <p:ph idx="1"/>
          </p:nvPr>
        </p:nvSpPr>
        <p:spPr>
          <a:xfrm>
            <a:off x="677334" y="1438183"/>
            <a:ext cx="8596668" cy="4603179"/>
          </a:xfrm>
        </p:spPr>
        <p:txBody>
          <a:bodyPr/>
          <a:lstStyle/>
          <a:p>
            <a:pPr algn="l"/>
            <a:r>
              <a:rPr lang="en-US" sz="1800" b="0" i="0" u="none" strike="noStrike" baseline="0" dirty="0">
                <a:latin typeface="Arial" panose="020B0604020202020204" pitchFamily="34" charset="0"/>
                <a:cs typeface="Arial" panose="020B0604020202020204" pitchFamily="34" charset="0"/>
              </a:rPr>
              <a:t>Consider a correlation matrix C of order 2. </a:t>
            </a:r>
            <a:r>
              <a:rPr lang="en-US" dirty="0">
                <a:latin typeface="Arial" panose="020B0604020202020204" pitchFamily="34" charset="0"/>
                <a:cs typeface="Arial" panose="020B0604020202020204" pitchFamily="34" charset="0"/>
              </a:rPr>
              <a:t>Then, the following results can be obtained:</a:t>
            </a:r>
          </a:p>
          <a:p>
            <a:pPr algn="l"/>
            <a:endParaRPr lang="en-US" sz="1800" b="0" i="0" u="none" strike="noStrike" baseline="0" dirty="0">
              <a:latin typeface="Arial" panose="020B0604020202020204" pitchFamily="34" charset="0"/>
              <a:cs typeface="Arial" panose="020B0604020202020204" pitchFamily="34" charset="0"/>
            </a:endParaRPr>
          </a:p>
          <a:p>
            <a:pPr algn="l"/>
            <a:endParaRPr lang="en-US" dirty="0">
              <a:latin typeface="Arial" panose="020B0604020202020204" pitchFamily="34" charset="0"/>
              <a:cs typeface="Arial" panose="020B0604020202020204" pitchFamily="34" charset="0"/>
            </a:endParaRPr>
          </a:p>
          <a:p>
            <a:pPr algn="l"/>
            <a:endParaRPr lang="en-US" sz="1800" b="0" i="0" u="none" strike="noStrike" baseline="0" dirty="0">
              <a:latin typeface="Arial" panose="020B0604020202020204" pitchFamily="34" charset="0"/>
              <a:cs typeface="Arial" panose="020B0604020202020204" pitchFamily="34" charset="0"/>
            </a:endParaRPr>
          </a:p>
          <a:p>
            <a:pPr algn="l"/>
            <a:endParaRPr lang="en-US" dirty="0">
              <a:latin typeface="Arial" panose="020B0604020202020204" pitchFamily="34" charset="0"/>
              <a:cs typeface="Arial" panose="020B0604020202020204" pitchFamily="34" charset="0"/>
            </a:endParaRPr>
          </a:p>
          <a:p>
            <a:pPr algn="l"/>
            <a:endParaRPr lang="en-US" sz="1800" b="0" i="0" u="none" strike="noStrike" baseline="0" dirty="0">
              <a:latin typeface="Arial" panose="020B0604020202020204" pitchFamily="34" charset="0"/>
              <a:cs typeface="Arial" panose="020B0604020202020204" pitchFamily="34" charset="0"/>
            </a:endParaRPr>
          </a:p>
          <a:p>
            <a:pPr algn="l"/>
            <a:endParaRPr lang="en-US" dirty="0">
              <a:latin typeface="Arial" panose="020B0604020202020204" pitchFamily="34" charset="0"/>
              <a:cs typeface="Arial" panose="020B0604020202020204" pitchFamily="34" charset="0"/>
            </a:endParaRPr>
          </a:p>
          <a:p>
            <a:pPr algn="l"/>
            <a:endParaRPr lang="en-US" sz="1800" b="0" i="0" u="none" strike="noStrike" baseline="0" dirty="0">
              <a:latin typeface="Arial" panose="020B0604020202020204" pitchFamily="34" charset="0"/>
              <a:cs typeface="Arial" panose="020B0604020202020204" pitchFamily="34" charset="0"/>
            </a:endParaRPr>
          </a:p>
          <a:p>
            <a:pPr algn="l"/>
            <a:r>
              <a:rPr lang="en-US" sz="1800" b="0" i="0" u="none" strike="noStrike" baseline="0" dirty="0">
                <a:latin typeface="Arial" panose="020B0604020202020204" pitchFamily="34" charset="0"/>
                <a:cs typeface="Arial" panose="020B0604020202020204" pitchFamily="34" charset="0"/>
              </a:rPr>
              <a:t>Because of 1) and 2), we can further observe</a:t>
            </a:r>
          </a:p>
          <a:p>
            <a:pPr marL="0" indent="0" algn="l">
              <a:buNone/>
            </a:pPr>
            <a:endParaRPr lang="en-US" sz="1800" b="0" i="0" u="none" strike="noStrike" baseline="0" dirty="0">
              <a:latin typeface="Arial" panose="020B0604020202020204" pitchFamily="34" charset="0"/>
              <a:cs typeface="Arial" panose="020B0604020202020204" pitchFamily="34" charset="0"/>
            </a:endParaRPr>
          </a:p>
          <a:p>
            <a:pPr algn="l"/>
            <a:endParaRPr lang="en-IN" dirty="0"/>
          </a:p>
        </p:txBody>
      </p:sp>
      <p:graphicFrame>
        <p:nvGraphicFramePr>
          <p:cNvPr id="4" name="Object 3">
            <a:extLst>
              <a:ext uri="{FF2B5EF4-FFF2-40B4-BE49-F238E27FC236}">
                <a16:creationId xmlns:a16="http://schemas.microsoft.com/office/drawing/2014/main" id="{C8D90186-2B74-4C35-92FB-87A8A4542C45}"/>
              </a:ext>
            </a:extLst>
          </p:cNvPr>
          <p:cNvGraphicFramePr>
            <a:graphicFrameLocks noChangeAspect="1"/>
          </p:cNvGraphicFramePr>
          <p:nvPr>
            <p:extLst>
              <p:ext uri="{D42A27DB-BD31-4B8C-83A1-F6EECF244321}">
                <p14:modId xmlns:p14="http://schemas.microsoft.com/office/powerpoint/2010/main" val="2617626459"/>
              </p:ext>
            </p:extLst>
          </p:nvPr>
        </p:nvGraphicFramePr>
        <p:xfrm>
          <a:off x="3178175" y="2319338"/>
          <a:ext cx="3541713" cy="2219325"/>
        </p:xfrm>
        <a:graphic>
          <a:graphicData uri="http://schemas.openxmlformats.org/presentationml/2006/ole">
            <mc:AlternateContent xmlns:mc="http://schemas.openxmlformats.org/markup-compatibility/2006">
              <mc:Choice xmlns:v="urn:schemas-microsoft-com:vml" Requires="v">
                <p:oleObj spid="_x0000_s4108" name="Equation" r:id="rId3" imgW="1498320" imgH="939600" progId="Equation.DSMT4">
                  <p:embed/>
                </p:oleObj>
              </mc:Choice>
              <mc:Fallback>
                <p:oleObj name="Equation" r:id="rId3" imgW="1498320" imgH="939600" progId="Equation.DSMT4">
                  <p:embed/>
                  <p:pic>
                    <p:nvPicPr>
                      <p:cNvPr id="0" name=""/>
                      <p:cNvPicPr/>
                      <p:nvPr/>
                    </p:nvPicPr>
                    <p:blipFill>
                      <a:blip r:embed="rId4"/>
                      <a:stretch>
                        <a:fillRect/>
                      </a:stretch>
                    </p:blipFill>
                    <p:spPr>
                      <a:xfrm>
                        <a:off x="3178175" y="2319338"/>
                        <a:ext cx="3541713" cy="2219325"/>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5248F053-3A2E-4AA5-8748-113C2157A7CA}"/>
              </a:ext>
            </a:extLst>
          </p:cNvPr>
          <p:cNvGraphicFramePr>
            <a:graphicFrameLocks noChangeAspect="1"/>
          </p:cNvGraphicFramePr>
          <p:nvPr>
            <p:extLst>
              <p:ext uri="{D42A27DB-BD31-4B8C-83A1-F6EECF244321}">
                <p14:modId xmlns:p14="http://schemas.microsoft.com/office/powerpoint/2010/main" val="254846966"/>
              </p:ext>
            </p:extLst>
          </p:nvPr>
        </p:nvGraphicFramePr>
        <p:xfrm>
          <a:off x="2158655" y="5419817"/>
          <a:ext cx="5590177" cy="829983"/>
        </p:xfrm>
        <a:graphic>
          <a:graphicData uri="http://schemas.openxmlformats.org/presentationml/2006/ole">
            <mc:AlternateContent xmlns:mc="http://schemas.openxmlformats.org/markup-compatibility/2006">
              <mc:Choice xmlns:v="urn:schemas-microsoft-com:vml" Requires="v">
                <p:oleObj spid="_x0000_s4109" name="Equation" r:id="rId5" imgW="2908080" imgH="431640" progId="Equation.DSMT4">
                  <p:embed/>
                </p:oleObj>
              </mc:Choice>
              <mc:Fallback>
                <p:oleObj name="Equation" r:id="rId5" imgW="2908080" imgH="431640" progId="Equation.DSMT4">
                  <p:embed/>
                  <p:pic>
                    <p:nvPicPr>
                      <p:cNvPr id="0" name=""/>
                      <p:cNvPicPr/>
                      <p:nvPr/>
                    </p:nvPicPr>
                    <p:blipFill>
                      <a:blip r:embed="rId6"/>
                      <a:stretch>
                        <a:fillRect/>
                      </a:stretch>
                    </p:blipFill>
                    <p:spPr>
                      <a:xfrm>
                        <a:off x="2158655" y="5419817"/>
                        <a:ext cx="5590177" cy="829983"/>
                      </a:xfrm>
                      <a:prstGeom prst="rect">
                        <a:avLst/>
                      </a:prstGeom>
                    </p:spPr>
                  </p:pic>
                </p:oleObj>
              </mc:Fallback>
            </mc:AlternateContent>
          </a:graphicData>
        </a:graphic>
      </p:graphicFrame>
    </p:spTree>
    <p:extLst>
      <p:ext uri="{BB962C8B-B14F-4D97-AF65-F5344CB8AC3E}">
        <p14:creationId xmlns:p14="http://schemas.microsoft.com/office/powerpoint/2010/main" val="3860363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CF8620-2513-418A-A131-D3861D756853}"/>
              </a:ext>
            </a:extLst>
          </p:cNvPr>
          <p:cNvSpPr>
            <a:spLocks noGrp="1"/>
          </p:cNvSpPr>
          <p:nvPr>
            <p:ph idx="1"/>
          </p:nvPr>
        </p:nvSpPr>
        <p:spPr>
          <a:xfrm>
            <a:off x="337969" y="774848"/>
            <a:ext cx="9041701" cy="5343148"/>
          </a:xfrm>
        </p:spPr>
        <p:txBody>
          <a:bodyPr>
            <a:normAutofit lnSpcReduction="10000"/>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above relationships indicate that as the assets under consideration move from zero dependence to perfect dependence, the condition number increases and the inverse of the correlation matrix becomes ill conditioned.</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In general, when we consider highly correlated assets, the associated covariance matrix tends to become ill conditioned, leading to extremely unstable allocation results.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This phenomenon is also known as the Markowitz’s curse, because of the implication that the Markowitz solution tends be reliable only when we consider assets with little to no correlation between them.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Resolving this issue is much harder than resolving noise induced instabilities, as the treatment has to be performed in the optimization process itself, rather than on the covariance matrix</a:t>
            </a:r>
          </a:p>
          <a:p>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6943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9932B-D7A3-46BE-8E76-535E188CAAE7}"/>
              </a:ext>
            </a:extLst>
          </p:cNvPr>
          <p:cNvSpPr>
            <a:spLocks noGrp="1"/>
          </p:cNvSpPr>
          <p:nvPr>
            <p:ph type="title"/>
          </p:nvPr>
        </p:nvSpPr>
        <p:spPr>
          <a:xfrm>
            <a:off x="724468" y="2768600"/>
            <a:ext cx="8596668" cy="1320800"/>
          </a:xfrm>
        </p:spPr>
        <p:txBody>
          <a:bodyPr/>
          <a:lstStyle/>
          <a:p>
            <a:r>
              <a:rPr lang="en-US" dirty="0"/>
              <a:t>Methods to control for </a:t>
            </a:r>
            <a:br>
              <a:rPr lang="en-US" dirty="0"/>
            </a:br>
            <a:r>
              <a:rPr lang="en-US" dirty="0"/>
              <a:t>Noise related Instabilities</a:t>
            </a:r>
            <a:endParaRPr lang="en-IN" dirty="0"/>
          </a:p>
        </p:txBody>
      </p:sp>
    </p:spTree>
    <p:extLst>
      <p:ext uri="{BB962C8B-B14F-4D97-AF65-F5344CB8AC3E}">
        <p14:creationId xmlns:p14="http://schemas.microsoft.com/office/powerpoint/2010/main" val="1167098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665FD-DD07-400E-8827-5BF5A97F1C3B}"/>
              </a:ext>
            </a:extLst>
          </p:cNvPr>
          <p:cNvSpPr>
            <a:spLocks noGrp="1"/>
          </p:cNvSpPr>
          <p:nvPr>
            <p:ph type="title"/>
          </p:nvPr>
        </p:nvSpPr>
        <p:spPr>
          <a:xfrm>
            <a:off x="677334" y="515332"/>
            <a:ext cx="8596668" cy="936396"/>
          </a:xfrm>
        </p:spPr>
        <p:txBody>
          <a:bodyPr/>
          <a:lstStyle/>
          <a:p>
            <a:r>
              <a:rPr lang="en-US" dirty="0"/>
              <a:t>Linear Shrinkage Methods</a:t>
            </a:r>
            <a:endParaRPr lang="en-IN" dirty="0"/>
          </a:p>
        </p:txBody>
      </p:sp>
      <p:sp>
        <p:nvSpPr>
          <p:cNvPr id="3" name="Content Placeholder 2">
            <a:extLst>
              <a:ext uri="{FF2B5EF4-FFF2-40B4-BE49-F238E27FC236}">
                <a16:creationId xmlns:a16="http://schemas.microsoft.com/office/drawing/2014/main" id="{C45814F8-C77E-476D-9C2C-87C7AD3C66A0}"/>
              </a:ext>
            </a:extLst>
          </p:cNvPr>
          <p:cNvSpPr>
            <a:spLocks noGrp="1"/>
          </p:cNvSpPr>
          <p:nvPr>
            <p:ph idx="1"/>
          </p:nvPr>
        </p:nvSpPr>
        <p:spPr>
          <a:xfrm>
            <a:off x="677334" y="1451728"/>
            <a:ext cx="8824885" cy="5052767"/>
          </a:xfrm>
        </p:spPr>
        <p:txBody>
          <a:bodyPr/>
          <a:lstStyle/>
          <a:p>
            <a:endParaRPr lang="en-US" dirty="0"/>
          </a:p>
          <a:p>
            <a:r>
              <a:rPr lang="en-US" dirty="0"/>
              <a:t>The Linear Shrinkage Technique is a technique that reduces the condition number of the covariance matrix by shifting the covariance matrix to an associated prior form.</a:t>
            </a:r>
          </a:p>
          <a:p>
            <a:endParaRPr lang="en-US" dirty="0"/>
          </a:p>
          <a:p>
            <a:r>
              <a:rPr lang="en-US" dirty="0"/>
              <a:t>The </a:t>
            </a:r>
            <a:r>
              <a:rPr lang="en-US" dirty="0" err="1"/>
              <a:t>Ledoit</a:t>
            </a:r>
            <a:r>
              <a:rPr lang="en-US" dirty="0"/>
              <a:t> Wolfe shrinkage method is a prominently known method of this class, which shifts the covariance matrix to the identity matrix.</a:t>
            </a:r>
          </a:p>
          <a:p>
            <a:endParaRPr lang="en-US" dirty="0"/>
          </a:p>
          <a:p>
            <a:endParaRPr lang="en-US" dirty="0"/>
          </a:p>
          <a:p>
            <a:r>
              <a:rPr lang="en-US" dirty="0"/>
              <a:t>Depending on the value of the parameter, the shrinkage can be adjusted to obtain a matrix between the original matrix and the identity matrix.</a:t>
            </a:r>
          </a:p>
          <a:p>
            <a:r>
              <a:rPr lang="en-US" dirty="0"/>
              <a:t>A major drawback with this type of shrinkage is that, although it reduces the condition number of the matrix, it does not differentiate between the signal and noise, leading to shrinkage of the signal as well.</a:t>
            </a:r>
            <a:endParaRPr lang="en-IN" dirty="0"/>
          </a:p>
        </p:txBody>
      </p:sp>
      <p:graphicFrame>
        <p:nvGraphicFramePr>
          <p:cNvPr id="4" name="Object 3">
            <a:extLst>
              <a:ext uri="{FF2B5EF4-FFF2-40B4-BE49-F238E27FC236}">
                <a16:creationId xmlns:a16="http://schemas.microsoft.com/office/drawing/2014/main" id="{4BA49E29-10D7-42DB-82AB-82434123143C}"/>
              </a:ext>
            </a:extLst>
          </p:cNvPr>
          <p:cNvGraphicFramePr>
            <a:graphicFrameLocks noChangeAspect="1"/>
          </p:cNvGraphicFramePr>
          <p:nvPr>
            <p:extLst>
              <p:ext uri="{D42A27DB-BD31-4B8C-83A1-F6EECF244321}">
                <p14:modId xmlns:p14="http://schemas.microsoft.com/office/powerpoint/2010/main" val="1394931371"/>
              </p:ext>
            </p:extLst>
          </p:nvPr>
        </p:nvGraphicFramePr>
        <p:xfrm>
          <a:off x="3525101" y="3994397"/>
          <a:ext cx="2442066" cy="527264"/>
        </p:xfrm>
        <a:graphic>
          <a:graphicData uri="http://schemas.openxmlformats.org/presentationml/2006/ole">
            <mc:AlternateContent xmlns:mc="http://schemas.openxmlformats.org/markup-compatibility/2006">
              <mc:Choice xmlns:v="urn:schemas-microsoft-com:vml" Requires="v">
                <p:oleObj spid="_x0000_s5126" name="Equation" r:id="rId3" imgW="1117440" imgH="241200" progId="Equation.DSMT4">
                  <p:embed/>
                </p:oleObj>
              </mc:Choice>
              <mc:Fallback>
                <p:oleObj name="Equation" r:id="rId3" imgW="1117440" imgH="241200" progId="Equation.DSMT4">
                  <p:embed/>
                  <p:pic>
                    <p:nvPicPr>
                      <p:cNvPr id="0" name=""/>
                      <p:cNvPicPr/>
                      <p:nvPr/>
                    </p:nvPicPr>
                    <p:blipFill>
                      <a:blip r:embed="rId4"/>
                      <a:stretch>
                        <a:fillRect/>
                      </a:stretch>
                    </p:blipFill>
                    <p:spPr>
                      <a:xfrm>
                        <a:off x="3525101" y="3994397"/>
                        <a:ext cx="2442066" cy="527264"/>
                      </a:xfrm>
                      <a:prstGeom prst="rect">
                        <a:avLst/>
                      </a:prstGeom>
                    </p:spPr>
                  </p:pic>
                </p:oleObj>
              </mc:Fallback>
            </mc:AlternateContent>
          </a:graphicData>
        </a:graphic>
      </p:graphicFrame>
    </p:spTree>
    <p:extLst>
      <p:ext uri="{BB962C8B-B14F-4D97-AF65-F5344CB8AC3E}">
        <p14:creationId xmlns:p14="http://schemas.microsoft.com/office/powerpoint/2010/main" val="1484674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8C76A-D2D8-4B07-9338-382AE8334120}"/>
              </a:ext>
            </a:extLst>
          </p:cNvPr>
          <p:cNvSpPr>
            <a:spLocks noGrp="1"/>
          </p:cNvSpPr>
          <p:nvPr>
            <p:ph type="title"/>
          </p:nvPr>
        </p:nvSpPr>
        <p:spPr>
          <a:xfrm>
            <a:off x="677334" y="609600"/>
            <a:ext cx="8596668" cy="992957"/>
          </a:xfrm>
        </p:spPr>
        <p:txBody>
          <a:bodyPr/>
          <a:lstStyle/>
          <a:p>
            <a:r>
              <a:rPr lang="en-US" dirty="0"/>
              <a:t>Eigen Value Clipping Method</a:t>
            </a:r>
            <a:endParaRPr lang="en-IN" dirty="0"/>
          </a:p>
        </p:txBody>
      </p:sp>
      <p:sp>
        <p:nvSpPr>
          <p:cNvPr id="3" name="Content Placeholder 2">
            <a:extLst>
              <a:ext uri="{FF2B5EF4-FFF2-40B4-BE49-F238E27FC236}">
                <a16:creationId xmlns:a16="http://schemas.microsoft.com/office/drawing/2014/main" id="{CCDDDA9C-6AF5-45B6-ADD6-64F4299098DD}"/>
              </a:ext>
            </a:extLst>
          </p:cNvPr>
          <p:cNvSpPr>
            <a:spLocks noGrp="1"/>
          </p:cNvSpPr>
          <p:nvPr>
            <p:ph idx="1"/>
          </p:nvPr>
        </p:nvSpPr>
        <p:spPr>
          <a:xfrm>
            <a:off x="677333" y="1602557"/>
            <a:ext cx="8843739" cy="4920791"/>
          </a:xfrm>
        </p:spPr>
        <p:txBody>
          <a:bodyPr>
            <a:normAutofit lnSpcReduction="10000"/>
          </a:bodyPr>
          <a:lstStyle/>
          <a:p>
            <a:r>
              <a:rPr lang="en-US" dirty="0"/>
              <a:t>The Eigen Value Clipping method is a technique that involves adjusting the noise related eigen values of the covariance matrix, while keeping the rest intact.</a:t>
            </a:r>
          </a:p>
          <a:p>
            <a:r>
              <a:rPr lang="en-US" dirty="0"/>
              <a:t>By doing this, it both reduces the condition number while also leaving the signal intact, leading to better allocation outcomes.</a:t>
            </a:r>
          </a:p>
          <a:p>
            <a:r>
              <a:rPr lang="en-US" dirty="0"/>
              <a:t>Once we obtain the eigen components upon decomposition, we can find the threshold eigen value by fitting the </a:t>
            </a:r>
            <a:r>
              <a:rPr lang="en-US" dirty="0" err="1"/>
              <a:t>Marcenko-Pastur</a:t>
            </a:r>
            <a:r>
              <a:rPr lang="en-US" dirty="0"/>
              <a:t> distribution, after which we replace the noise related eigen values by their average. </a:t>
            </a:r>
          </a:p>
          <a:p>
            <a:r>
              <a:rPr lang="en-US" dirty="0"/>
              <a:t>Assuming the number of noise related eigen values is </a:t>
            </a:r>
          </a:p>
          <a:p>
            <a:endParaRPr lang="en-US" dirty="0"/>
          </a:p>
          <a:p>
            <a:endParaRPr lang="en-US" dirty="0"/>
          </a:p>
          <a:p>
            <a:r>
              <a:rPr lang="en-US" dirty="0"/>
              <a:t>We choose the replacement as the mean to preserve the trace of the correlation matrix. As long as the Trace does not deviate, any replacement can be performed.</a:t>
            </a:r>
          </a:p>
          <a:p>
            <a:r>
              <a:rPr lang="en-US" dirty="0"/>
              <a:t>The new correlation matrix can be obtained upon rejoining the eigen components and standardizing the diagonal elements.</a:t>
            </a:r>
            <a:endParaRPr lang="en-IN" dirty="0"/>
          </a:p>
        </p:txBody>
      </p:sp>
      <p:graphicFrame>
        <p:nvGraphicFramePr>
          <p:cNvPr id="5" name="Object 4">
            <a:extLst>
              <a:ext uri="{FF2B5EF4-FFF2-40B4-BE49-F238E27FC236}">
                <a16:creationId xmlns:a16="http://schemas.microsoft.com/office/drawing/2014/main" id="{68934507-CCFC-441C-8991-E7FD886FB311}"/>
              </a:ext>
            </a:extLst>
          </p:cNvPr>
          <p:cNvGraphicFramePr>
            <a:graphicFrameLocks noChangeAspect="1"/>
          </p:cNvGraphicFramePr>
          <p:nvPr>
            <p:extLst>
              <p:ext uri="{D42A27DB-BD31-4B8C-83A1-F6EECF244321}">
                <p14:modId xmlns:p14="http://schemas.microsoft.com/office/powerpoint/2010/main" val="968885869"/>
              </p:ext>
            </p:extLst>
          </p:nvPr>
        </p:nvGraphicFramePr>
        <p:xfrm>
          <a:off x="4335752" y="4034672"/>
          <a:ext cx="1279831" cy="896168"/>
        </p:xfrm>
        <a:graphic>
          <a:graphicData uri="http://schemas.openxmlformats.org/presentationml/2006/ole">
            <mc:AlternateContent xmlns:mc="http://schemas.openxmlformats.org/markup-compatibility/2006">
              <mc:Choice xmlns:v="urn:schemas-microsoft-com:vml" Requires="v">
                <p:oleObj spid="_x0000_s6156" name="Equation" r:id="rId3" imgW="634680" imgH="444240" progId="Equation.DSMT4">
                  <p:embed/>
                </p:oleObj>
              </mc:Choice>
              <mc:Fallback>
                <p:oleObj name="Equation" r:id="rId3" imgW="634680" imgH="444240" progId="Equation.DSMT4">
                  <p:embed/>
                  <p:pic>
                    <p:nvPicPr>
                      <p:cNvPr id="0" name=""/>
                      <p:cNvPicPr/>
                      <p:nvPr/>
                    </p:nvPicPr>
                    <p:blipFill>
                      <a:blip r:embed="rId4"/>
                      <a:stretch>
                        <a:fillRect/>
                      </a:stretch>
                    </p:blipFill>
                    <p:spPr>
                      <a:xfrm>
                        <a:off x="4335752" y="4034672"/>
                        <a:ext cx="1279831" cy="896168"/>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F143B05B-41C9-46E0-8C9F-5A9F5A27AA77}"/>
              </a:ext>
            </a:extLst>
          </p:cNvPr>
          <p:cNvGraphicFramePr>
            <a:graphicFrameLocks noChangeAspect="1"/>
          </p:cNvGraphicFramePr>
          <p:nvPr>
            <p:extLst>
              <p:ext uri="{D42A27DB-BD31-4B8C-83A1-F6EECF244321}">
                <p14:modId xmlns:p14="http://schemas.microsoft.com/office/powerpoint/2010/main" val="3420399325"/>
              </p:ext>
            </p:extLst>
          </p:nvPr>
        </p:nvGraphicFramePr>
        <p:xfrm>
          <a:off x="6641053" y="3631757"/>
          <a:ext cx="278221" cy="402915"/>
        </p:xfrm>
        <a:graphic>
          <a:graphicData uri="http://schemas.openxmlformats.org/presentationml/2006/ole">
            <mc:AlternateContent xmlns:mc="http://schemas.openxmlformats.org/markup-compatibility/2006">
              <mc:Choice xmlns:v="urn:schemas-microsoft-com:vml" Requires="v">
                <p:oleObj spid="_x0000_s6157" name="Equation" r:id="rId5" imgW="126720" imgH="177480" progId="Equation.DSMT4">
                  <p:embed/>
                </p:oleObj>
              </mc:Choice>
              <mc:Fallback>
                <p:oleObj name="Equation" r:id="rId5" imgW="126720" imgH="177480" progId="Equation.DSMT4">
                  <p:embed/>
                  <p:pic>
                    <p:nvPicPr>
                      <p:cNvPr id="0" name=""/>
                      <p:cNvPicPr/>
                      <p:nvPr/>
                    </p:nvPicPr>
                    <p:blipFill>
                      <a:blip r:embed="rId6"/>
                      <a:stretch>
                        <a:fillRect/>
                      </a:stretch>
                    </p:blipFill>
                    <p:spPr>
                      <a:xfrm>
                        <a:off x="6641053" y="3631757"/>
                        <a:ext cx="278221" cy="402915"/>
                      </a:xfrm>
                      <a:prstGeom prst="rect">
                        <a:avLst/>
                      </a:prstGeom>
                    </p:spPr>
                  </p:pic>
                </p:oleObj>
              </mc:Fallback>
            </mc:AlternateContent>
          </a:graphicData>
        </a:graphic>
      </p:graphicFrame>
    </p:spTree>
    <p:extLst>
      <p:ext uri="{BB962C8B-B14F-4D97-AF65-F5344CB8AC3E}">
        <p14:creationId xmlns:p14="http://schemas.microsoft.com/office/powerpoint/2010/main" val="1372855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B613B-3290-4963-9687-B51497456C52}"/>
              </a:ext>
            </a:extLst>
          </p:cNvPr>
          <p:cNvSpPr>
            <a:spLocks noGrp="1"/>
          </p:cNvSpPr>
          <p:nvPr>
            <p:ph type="title"/>
          </p:nvPr>
        </p:nvSpPr>
        <p:spPr>
          <a:xfrm>
            <a:off x="677334" y="609600"/>
            <a:ext cx="8504373" cy="813847"/>
          </a:xfrm>
        </p:spPr>
        <p:txBody>
          <a:bodyPr/>
          <a:lstStyle/>
          <a:p>
            <a:r>
              <a:rPr lang="en-US" dirty="0"/>
              <a:t>Targeted Shrinkage Method</a:t>
            </a:r>
            <a:endParaRPr lang="en-IN" dirty="0"/>
          </a:p>
        </p:txBody>
      </p:sp>
      <p:sp>
        <p:nvSpPr>
          <p:cNvPr id="3" name="Content Placeholder 2">
            <a:extLst>
              <a:ext uri="{FF2B5EF4-FFF2-40B4-BE49-F238E27FC236}">
                <a16:creationId xmlns:a16="http://schemas.microsoft.com/office/drawing/2014/main" id="{014BFF06-5788-4867-A71D-3240A02D7C69}"/>
              </a:ext>
            </a:extLst>
          </p:cNvPr>
          <p:cNvSpPr>
            <a:spLocks noGrp="1"/>
          </p:cNvSpPr>
          <p:nvPr>
            <p:ph idx="1"/>
          </p:nvPr>
        </p:nvSpPr>
        <p:spPr>
          <a:xfrm>
            <a:off x="677333" y="1508289"/>
            <a:ext cx="8617495" cy="4533073"/>
          </a:xfrm>
        </p:spPr>
        <p:txBody>
          <a:bodyPr/>
          <a:lstStyle/>
          <a:p>
            <a:r>
              <a:rPr lang="en-US" dirty="0"/>
              <a:t>As the name suggests, the Targeted shrinkage method targets the application of shrinkage to the noise related eigen values.</a:t>
            </a:r>
          </a:p>
          <a:p>
            <a:endParaRPr lang="en-US" dirty="0"/>
          </a:p>
          <a:p>
            <a:r>
              <a:rPr lang="en-US" dirty="0"/>
              <a:t>Once the </a:t>
            </a:r>
            <a:r>
              <a:rPr lang="en-US" dirty="0" err="1"/>
              <a:t>Marcenko-Pastur</a:t>
            </a:r>
            <a:r>
              <a:rPr lang="en-US" dirty="0"/>
              <a:t> distribution provides the threshold eigen value, we perform the following:</a:t>
            </a:r>
          </a:p>
          <a:p>
            <a:endParaRPr lang="en-US" dirty="0"/>
          </a:p>
          <a:p>
            <a:endParaRPr lang="en-US" dirty="0"/>
          </a:p>
          <a:p>
            <a:endParaRPr lang="en-US" dirty="0"/>
          </a:p>
          <a:p>
            <a:r>
              <a:rPr lang="en-US" dirty="0"/>
              <a:t>Similar to the shrinkage method, the choice of the parameter value will produce different levels of shrinkage</a:t>
            </a:r>
            <a:endParaRPr lang="en-IN" dirty="0"/>
          </a:p>
        </p:txBody>
      </p:sp>
      <p:graphicFrame>
        <p:nvGraphicFramePr>
          <p:cNvPr id="4" name="Object 3">
            <a:extLst>
              <a:ext uri="{FF2B5EF4-FFF2-40B4-BE49-F238E27FC236}">
                <a16:creationId xmlns:a16="http://schemas.microsoft.com/office/drawing/2014/main" id="{9FB51259-D3C3-41F8-A4AE-3052311B9E69}"/>
              </a:ext>
            </a:extLst>
          </p:cNvPr>
          <p:cNvGraphicFramePr>
            <a:graphicFrameLocks noChangeAspect="1"/>
          </p:cNvGraphicFramePr>
          <p:nvPr>
            <p:extLst>
              <p:ext uri="{D42A27DB-BD31-4B8C-83A1-F6EECF244321}">
                <p14:modId xmlns:p14="http://schemas.microsoft.com/office/powerpoint/2010/main" val="89633658"/>
              </p:ext>
            </p:extLst>
          </p:nvPr>
        </p:nvGraphicFramePr>
        <p:xfrm>
          <a:off x="1382641" y="3490736"/>
          <a:ext cx="7206877" cy="568177"/>
        </p:xfrm>
        <a:graphic>
          <a:graphicData uri="http://schemas.openxmlformats.org/presentationml/2006/ole">
            <mc:AlternateContent xmlns:mc="http://schemas.openxmlformats.org/markup-compatibility/2006">
              <mc:Choice xmlns:v="urn:schemas-microsoft-com:vml" Requires="v">
                <p:oleObj spid="_x0000_s7174" name="Equation" r:id="rId3" imgW="3060360" imgH="241200" progId="Equation.DSMT4">
                  <p:embed/>
                </p:oleObj>
              </mc:Choice>
              <mc:Fallback>
                <p:oleObj name="Equation" r:id="rId3" imgW="3060360" imgH="241200" progId="Equation.DSMT4">
                  <p:embed/>
                  <p:pic>
                    <p:nvPicPr>
                      <p:cNvPr id="0" name=""/>
                      <p:cNvPicPr/>
                      <p:nvPr/>
                    </p:nvPicPr>
                    <p:blipFill>
                      <a:blip r:embed="rId4"/>
                      <a:stretch>
                        <a:fillRect/>
                      </a:stretch>
                    </p:blipFill>
                    <p:spPr>
                      <a:xfrm>
                        <a:off x="1382641" y="3490736"/>
                        <a:ext cx="7206877" cy="568177"/>
                      </a:xfrm>
                      <a:prstGeom prst="rect">
                        <a:avLst/>
                      </a:prstGeom>
                    </p:spPr>
                  </p:pic>
                </p:oleObj>
              </mc:Fallback>
            </mc:AlternateContent>
          </a:graphicData>
        </a:graphic>
      </p:graphicFrame>
    </p:spTree>
    <p:extLst>
      <p:ext uri="{BB962C8B-B14F-4D97-AF65-F5344CB8AC3E}">
        <p14:creationId xmlns:p14="http://schemas.microsoft.com/office/powerpoint/2010/main" val="1727889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1228E-969E-41B8-9BD1-E233B8754AA9}"/>
              </a:ext>
            </a:extLst>
          </p:cNvPr>
          <p:cNvSpPr>
            <a:spLocks noGrp="1"/>
          </p:cNvSpPr>
          <p:nvPr>
            <p:ph type="title"/>
          </p:nvPr>
        </p:nvSpPr>
        <p:spPr>
          <a:xfrm>
            <a:off x="931857" y="2523242"/>
            <a:ext cx="8596668" cy="1320800"/>
          </a:xfrm>
        </p:spPr>
        <p:txBody>
          <a:bodyPr/>
          <a:lstStyle/>
          <a:p>
            <a:r>
              <a:rPr lang="en-US" dirty="0"/>
              <a:t>Methods to control for</a:t>
            </a:r>
            <a:br>
              <a:rPr lang="en-US" dirty="0"/>
            </a:br>
            <a:r>
              <a:rPr lang="en-US" dirty="0"/>
              <a:t> Structure related Instabilities</a:t>
            </a:r>
            <a:endParaRPr lang="en-IN" dirty="0"/>
          </a:p>
        </p:txBody>
      </p:sp>
    </p:spTree>
    <p:extLst>
      <p:ext uri="{BB962C8B-B14F-4D97-AF65-F5344CB8AC3E}">
        <p14:creationId xmlns:p14="http://schemas.microsoft.com/office/powerpoint/2010/main" val="868377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79FB8-29CE-439D-B7F1-5351197FF244}"/>
              </a:ext>
            </a:extLst>
          </p:cNvPr>
          <p:cNvSpPr>
            <a:spLocks noGrp="1"/>
          </p:cNvSpPr>
          <p:nvPr>
            <p:ph type="title"/>
          </p:nvPr>
        </p:nvSpPr>
        <p:spPr>
          <a:xfrm>
            <a:off x="677334" y="609600"/>
            <a:ext cx="8596668" cy="757287"/>
          </a:xfrm>
        </p:spPr>
        <p:txBody>
          <a:bodyPr/>
          <a:lstStyle/>
          <a:p>
            <a:r>
              <a:rPr lang="en-US" dirty="0"/>
              <a:t>Critical Line Algorithm (CLA)</a:t>
            </a:r>
            <a:endParaRPr lang="en-IN" dirty="0"/>
          </a:p>
        </p:txBody>
      </p:sp>
      <p:sp>
        <p:nvSpPr>
          <p:cNvPr id="3" name="Content Placeholder 2">
            <a:extLst>
              <a:ext uri="{FF2B5EF4-FFF2-40B4-BE49-F238E27FC236}">
                <a16:creationId xmlns:a16="http://schemas.microsoft.com/office/drawing/2014/main" id="{CD52CDC2-FBD5-4028-86BE-CD722A7BD835}"/>
              </a:ext>
            </a:extLst>
          </p:cNvPr>
          <p:cNvSpPr>
            <a:spLocks noGrp="1"/>
          </p:cNvSpPr>
          <p:nvPr>
            <p:ph idx="1"/>
          </p:nvPr>
        </p:nvSpPr>
        <p:spPr>
          <a:xfrm>
            <a:off x="471339" y="1366887"/>
            <a:ext cx="8870623" cy="5147035"/>
          </a:xfrm>
        </p:spPr>
        <p:txBody>
          <a:bodyPr>
            <a:normAutofit lnSpcReduction="10000"/>
          </a:bodyPr>
          <a:lstStyle/>
          <a:p>
            <a:r>
              <a:rPr lang="en-US" dirty="0">
                <a:latin typeface="Arial" panose="020B0604020202020204" pitchFamily="34" charset="0"/>
                <a:cs typeface="Arial" panose="020B0604020202020204" pitchFamily="34" charset="0"/>
              </a:rPr>
              <a:t>The Critical Line Algorithm is unique in that it theoretically obtains accurate solutions to the inequality based mean variance optimization problem while circumventing the restrictions of the KKT conditions</a:t>
            </a:r>
          </a:p>
          <a:p>
            <a:pPr algn="l"/>
            <a:endParaRPr lang="en-US" sz="1800" b="0" i="0" u="none" strike="noStrike" baseline="0" dirty="0">
              <a:latin typeface="Arial" panose="020B0604020202020204" pitchFamily="34" charset="0"/>
              <a:cs typeface="Arial" panose="020B0604020202020204" pitchFamily="34" charset="0"/>
            </a:endParaRPr>
          </a:p>
          <a:p>
            <a:pPr algn="l"/>
            <a:r>
              <a:rPr lang="en-US" sz="1800" b="0" i="0" u="none" strike="noStrike" baseline="0" dirty="0">
                <a:latin typeface="Arial" panose="020B0604020202020204" pitchFamily="34" charset="0"/>
                <a:cs typeface="Arial" panose="020B0604020202020204" pitchFamily="34" charset="0"/>
              </a:rPr>
              <a:t>The significant contribution by the CLA algorithm is that it guarantees the exact solution after a known number of iterations.</a:t>
            </a:r>
          </a:p>
          <a:p>
            <a:pPr algn="l"/>
            <a:endParaRPr lang="en-IN" dirty="0">
              <a:latin typeface="Arial" panose="020B0604020202020204" pitchFamily="34" charset="0"/>
              <a:cs typeface="Arial" panose="020B0604020202020204" pitchFamily="34" charset="0"/>
            </a:endParaRPr>
          </a:p>
          <a:p>
            <a:pPr algn="l"/>
            <a:r>
              <a:rPr lang="en-IN" dirty="0">
                <a:latin typeface="Arial" panose="020B0604020202020204" pitchFamily="34" charset="0"/>
                <a:cs typeface="Arial" panose="020B0604020202020204" pitchFamily="34" charset="0"/>
              </a:rPr>
              <a:t>It uses the notion of </a:t>
            </a:r>
            <a:r>
              <a:rPr lang="en-IN" i="1" dirty="0">
                <a:latin typeface="Arial" panose="020B0604020202020204" pitchFamily="34" charset="0"/>
                <a:cs typeface="Arial" panose="020B0604020202020204" pitchFamily="34" charset="0"/>
              </a:rPr>
              <a:t>free</a:t>
            </a:r>
            <a:r>
              <a:rPr lang="en-IN" dirty="0">
                <a:latin typeface="Arial" panose="020B0604020202020204" pitchFamily="34" charset="0"/>
                <a:cs typeface="Arial" panose="020B0604020202020204" pitchFamily="34" charset="0"/>
              </a:rPr>
              <a:t> and </a:t>
            </a:r>
            <a:r>
              <a:rPr lang="en-IN" i="1" dirty="0">
                <a:latin typeface="Arial" panose="020B0604020202020204" pitchFamily="34" charset="0"/>
                <a:cs typeface="Arial" panose="020B0604020202020204" pitchFamily="34" charset="0"/>
              </a:rPr>
              <a:t>bounded</a:t>
            </a:r>
            <a:r>
              <a:rPr lang="en-IN" dirty="0">
                <a:latin typeface="Arial" panose="020B0604020202020204" pitchFamily="34" charset="0"/>
                <a:cs typeface="Arial" panose="020B0604020202020204" pitchFamily="34" charset="0"/>
              </a:rPr>
              <a:t> assets to obtain the entire constrained efficient frontier.</a:t>
            </a:r>
          </a:p>
          <a:p>
            <a:pPr algn="l"/>
            <a:endParaRPr lang="en-IN" dirty="0">
              <a:latin typeface="Arial" panose="020B0604020202020204" pitchFamily="34" charset="0"/>
              <a:cs typeface="Arial" panose="020B0604020202020204" pitchFamily="34" charset="0"/>
            </a:endParaRPr>
          </a:p>
          <a:p>
            <a:pPr algn="l"/>
            <a:r>
              <a:rPr lang="en-IN" dirty="0">
                <a:latin typeface="Arial" panose="020B0604020202020204" pitchFamily="34" charset="0"/>
                <a:cs typeface="Arial" panose="020B0604020202020204" pitchFamily="34" charset="0"/>
              </a:rPr>
              <a:t>The procedure begins by obtaining the maximum return portfolio with the given constraints, and then calculates all possible values of the lambda parameter to obtain the next portfolio in the efficient frontier.</a:t>
            </a:r>
          </a:p>
          <a:p>
            <a:pPr algn="l"/>
            <a:endParaRPr lang="en-IN" dirty="0">
              <a:latin typeface="Arial" panose="020B0604020202020204" pitchFamily="34" charset="0"/>
              <a:cs typeface="Arial" panose="020B0604020202020204" pitchFamily="34" charset="0"/>
            </a:endParaRPr>
          </a:p>
          <a:p>
            <a:pPr algn="l"/>
            <a:r>
              <a:rPr lang="en-IN" dirty="0">
                <a:latin typeface="Arial" panose="020B0604020202020204" pitchFamily="34" charset="0"/>
                <a:cs typeface="Arial" panose="020B0604020202020204" pitchFamily="34" charset="0"/>
              </a:rPr>
              <a:t>By repeating this step, we end up with the minimum variance portfolio under the inequality constraints.</a:t>
            </a:r>
          </a:p>
          <a:p>
            <a:pPr algn="l"/>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1499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A369E-6FEA-4CAD-818E-8145949FB201}"/>
              </a:ext>
            </a:extLst>
          </p:cNvPr>
          <p:cNvSpPr>
            <a:spLocks noGrp="1"/>
          </p:cNvSpPr>
          <p:nvPr>
            <p:ph type="title"/>
          </p:nvPr>
        </p:nvSpPr>
        <p:spPr/>
        <p:txBody>
          <a:bodyPr/>
          <a:lstStyle/>
          <a:p>
            <a:r>
              <a:rPr lang="en-US" dirty="0"/>
              <a:t>Hierarchical Risk Parity (HRP)</a:t>
            </a:r>
            <a:endParaRPr lang="en-IN" dirty="0"/>
          </a:p>
        </p:txBody>
      </p:sp>
      <p:sp>
        <p:nvSpPr>
          <p:cNvPr id="3" name="Content Placeholder 2">
            <a:extLst>
              <a:ext uri="{FF2B5EF4-FFF2-40B4-BE49-F238E27FC236}">
                <a16:creationId xmlns:a16="http://schemas.microsoft.com/office/drawing/2014/main" id="{30DFA476-7BD5-47C0-88C4-6D23BEE49D1B}"/>
              </a:ext>
            </a:extLst>
          </p:cNvPr>
          <p:cNvSpPr>
            <a:spLocks noGrp="1"/>
          </p:cNvSpPr>
          <p:nvPr>
            <p:ph idx="1"/>
          </p:nvPr>
        </p:nvSpPr>
        <p:spPr>
          <a:xfrm>
            <a:off x="490194" y="1593131"/>
            <a:ext cx="8783808" cy="4448232"/>
          </a:xfrm>
        </p:spPr>
        <p:txBody>
          <a:bodyPr>
            <a:normAutofit/>
          </a:bodyPr>
          <a:lstStyle/>
          <a:p>
            <a:r>
              <a:rPr lang="en-US" dirty="0"/>
              <a:t>The HRP technique is a technique uses a tree-based clustering algorithm to segregate assets, allowing for lower complexity in choice of asset and a useful top down approach to obtaining the optimal allocations.</a:t>
            </a:r>
          </a:p>
          <a:p>
            <a:r>
              <a:rPr lang="en-US" dirty="0"/>
              <a:t>The HRP method has 3 stages:</a:t>
            </a:r>
          </a:p>
          <a:p>
            <a:pPr>
              <a:buFont typeface="+mj-lt"/>
              <a:buAutoNum type="arabicPeriod"/>
            </a:pPr>
            <a:r>
              <a:rPr lang="en-US" dirty="0"/>
              <a:t>Tree Clustering: The hierarchical relationship is established using the notion of a distance metric.</a:t>
            </a:r>
          </a:p>
          <a:p>
            <a:pPr>
              <a:buFont typeface="+mj-lt"/>
              <a:buAutoNum type="arabicPeriod"/>
            </a:pPr>
            <a:r>
              <a:rPr lang="en-US" dirty="0"/>
              <a:t>Quasi Diagonalization: The covariance matrix is rearranged to a block diagonal form, where each block represents a cluster</a:t>
            </a:r>
          </a:p>
          <a:p>
            <a:pPr>
              <a:buFont typeface="+mj-lt"/>
              <a:buAutoNum type="arabicPeriod"/>
            </a:pPr>
            <a:r>
              <a:rPr lang="en-US" dirty="0"/>
              <a:t>Recursive Bisection: Maintaining the hierarchical relationship through a link structure, we bisect our collection of securities and obtain inverse variance allocations for each collection. Repeating this step on each new partition, we finally end up with the HRP allocation.</a:t>
            </a:r>
          </a:p>
          <a:p>
            <a:pPr>
              <a:buFont typeface="+mj-lt"/>
              <a:buAutoNum type="arabicPeriod"/>
            </a:pPr>
            <a:endParaRPr lang="en-IN" dirty="0"/>
          </a:p>
        </p:txBody>
      </p:sp>
    </p:spTree>
    <p:extLst>
      <p:ext uri="{BB962C8B-B14F-4D97-AF65-F5344CB8AC3E}">
        <p14:creationId xmlns:p14="http://schemas.microsoft.com/office/powerpoint/2010/main" val="3443619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C426861-F53C-497C-976B-B9AB98D3E603}"/>
              </a:ext>
            </a:extLst>
          </p:cNvPr>
          <p:cNvSpPr>
            <a:spLocks noGrp="1"/>
          </p:cNvSpPr>
          <p:nvPr>
            <p:ph type="title"/>
          </p:nvPr>
        </p:nvSpPr>
        <p:spPr/>
        <p:txBody>
          <a:bodyPr/>
          <a:lstStyle/>
          <a:p>
            <a:r>
              <a:rPr lang="en-US" dirty="0"/>
              <a:t>Nested Clustered Optimization (NCO)</a:t>
            </a:r>
            <a:endParaRPr lang="en-IN" dirty="0"/>
          </a:p>
        </p:txBody>
      </p:sp>
      <p:sp>
        <p:nvSpPr>
          <p:cNvPr id="6" name="Content Placeholder 2">
            <a:extLst>
              <a:ext uri="{FF2B5EF4-FFF2-40B4-BE49-F238E27FC236}">
                <a16:creationId xmlns:a16="http://schemas.microsoft.com/office/drawing/2014/main" id="{6C07E7A2-F94B-49C2-8A12-CD063372427C}"/>
              </a:ext>
            </a:extLst>
          </p:cNvPr>
          <p:cNvSpPr>
            <a:spLocks noGrp="1"/>
          </p:cNvSpPr>
          <p:nvPr>
            <p:ph idx="1"/>
          </p:nvPr>
        </p:nvSpPr>
        <p:spPr>
          <a:xfrm>
            <a:off x="527901" y="1517715"/>
            <a:ext cx="8746101" cy="4523647"/>
          </a:xfrm>
        </p:spPr>
        <p:txBody>
          <a:bodyPr>
            <a:normAutofit/>
          </a:bodyPr>
          <a:lstStyle/>
          <a:p>
            <a:pPr algn="l"/>
            <a:r>
              <a:rPr lang="en-US" sz="1800" b="0" i="0" u="none" strike="noStrike" baseline="0" dirty="0">
                <a:latin typeface="Arial" panose="020B0604020202020204" pitchFamily="34" charset="0"/>
                <a:cs typeface="Arial" panose="020B0604020202020204" pitchFamily="34" charset="0"/>
              </a:rPr>
              <a:t>Financial securities, in particular,  would have a high presence of clusters within the correlation matrix due to the presence of hierarchical relationships.</a:t>
            </a:r>
            <a:endParaRPr lang="en-US" dirty="0">
              <a:latin typeface="Arial" panose="020B0604020202020204" pitchFamily="34" charset="0"/>
              <a:cs typeface="Arial" panose="020B0604020202020204" pitchFamily="34" charset="0"/>
            </a:endParaRPr>
          </a:p>
          <a:p>
            <a:pPr algn="l"/>
            <a:r>
              <a:rPr lang="en-US" dirty="0">
                <a:latin typeface="Arial" panose="020B0604020202020204" pitchFamily="34" charset="0"/>
                <a:cs typeface="Arial" panose="020B0604020202020204" pitchFamily="34" charset="0"/>
              </a:rPr>
              <a:t>Securities that are contained within a cluster tend to be exposed to a single common eigen vector with an eigen value that explains their variance.</a:t>
            </a:r>
          </a:p>
          <a:p>
            <a:pPr algn="l"/>
            <a:r>
              <a:rPr lang="en-US" dirty="0">
                <a:latin typeface="Arial" panose="020B0604020202020204" pitchFamily="34" charset="0"/>
                <a:cs typeface="Arial" panose="020B0604020202020204" pitchFamily="34" charset="0"/>
              </a:rPr>
              <a:t>Because of high </a:t>
            </a:r>
            <a:r>
              <a:rPr lang="en-US" dirty="0" err="1">
                <a:latin typeface="Arial" panose="020B0604020202020204" pitchFamily="34" charset="0"/>
                <a:cs typeface="Arial" panose="020B0604020202020204" pitchFamily="34" charset="0"/>
              </a:rPr>
              <a:t>intracluster</a:t>
            </a:r>
            <a:r>
              <a:rPr lang="en-US" dirty="0">
                <a:latin typeface="Arial" panose="020B0604020202020204" pitchFamily="34" charset="0"/>
                <a:cs typeface="Arial" panose="020B0604020202020204" pitchFamily="34" charset="0"/>
              </a:rPr>
              <a:t> correlations, we may obtain an extremely high eigen value that can offset the remaining ones, leading to a high condition number </a:t>
            </a:r>
            <a:r>
              <a:rPr lang="en-US" dirty="0" err="1">
                <a:latin typeface="Arial" panose="020B0604020202020204" pitchFamily="34" charset="0"/>
                <a:cs typeface="Arial" panose="020B0604020202020204" pitchFamily="34" charset="0"/>
              </a:rPr>
              <a:t>i.e</a:t>
            </a:r>
            <a:r>
              <a:rPr lang="en-US" dirty="0">
                <a:latin typeface="Arial" panose="020B0604020202020204" pitchFamily="34" charset="0"/>
                <a:cs typeface="Arial" panose="020B0604020202020204" pitchFamily="34" charset="0"/>
              </a:rPr>
              <a:t> greater the </a:t>
            </a:r>
            <a:r>
              <a:rPr lang="en-US" dirty="0" err="1">
                <a:latin typeface="Arial" panose="020B0604020202020204" pitchFamily="34" charset="0"/>
                <a:cs typeface="Arial" panose="020B0604020202020204" pitchFamily="34" charset="0"/>
              </a:rPr>
              <a:t>intracluster</a:t>
            </a:r>
            <a:r>
              <a:rPr lang="en-US" dirty="0">
                <a:latin typeface="Arial" panose="020B0604020202020204" pitchFamily="34" charset="0"/>
                <a:cs typeface="Arial" panose="020B0604020202020204" pitchFamily="34" charset="0"/>
              </a:rPr>
              <a:t> correlations, greater is the instability.</a:t>
            </a:r>
          </a:p>
          <a:p>
            <a:pPr algn="l"/>
            <a:r>
              <a:rPr lang="en-US" dirty="0">
                <a:latin typeface="Arial" panose="020B0604020202020204" pitchFamily="34" charset="0"/>
                <a:cs typeface="Arial" panose="020B0604020202020204" pitchFamily="34" charset="0"/>
              </a:rPr>
              <a:t>We can resolve this by optimizing the clusters </a:t>
            </a:r>
            <a:r>
              <a:rPr lang="en-US" dirty="0" err="1">
                <a:latin typeface="Arial" panose="020B0604020202020204" pitchFamily="34" charset="0"/>
                <a:cs typeface="Arial" panose="020B0604020202020204" pitchFamily="34" charset="0"/>
              </a:rPr>
              <a:t>intracluster</a:t>
            </a:r>
            <a:r>
              <a:rPr lang="en-US" dirty="0">
                <a:latin typeface="Arial" panose="020B0604020202020204" pitchFamily="34" charset="0"/>
                <a:cs typeface="Arial" panose="020B0604020202020204" pitchFamily="34" charset="0"/>
              </a:rPr>
              <a:t>, and using the reduced covariance matrix to obtain the </a:t>
            </a:r>
            <a:r>
              <a:rPr lang="en-US" dirty="0" err="1">
                <a:latin typeface="Arial" panose="020B0604020202020204" pitchFamily="34" charset="0"/>
                <a:cs typeface="Arial" panose="020B0604020202020204" pitchFamily="34" charset="0"/>
              </a:rPr>
              <a:t>intercluster</a:t>
            </a:r>
            <a:r>
              <a:rPr lang="en-US" dirty="0">
                <a:latin typeface="Arial" panose="020B0604020202020204" pitchFamily="34" charset="0"/>
                <a:cs typeface="Arial" panose="020B0604020202020204" pitchFamily="34" charset="0"/>
              </a:rPr>
              <a:t> weights. After this a simple dot product will yield our final result.</a:t>
            </a:r>
          </a:p>
          <a:p>
            <a:pPr algn="l"/>
            <a:r>
              <a:rPr lang="en-US" dirty="0">
                <a:latin typeface="Arial" panose="020B0604020202020204" pitchFamily="34" charset="0"/>
                <a:cs typeface="Arial" panose="020B0604020202020204" pitchFamily="34" charset="0"/>
              </a:rPr>
              <a:t>Note that the only new concept NCO brings to the table is on optimizing the covariance matrix separately based on clusters. The underlying optimization can be one of any known methods</a:t>
            </a:r>
          </a:p>
          <a:p>
            <a:pPr algn="l"/>
            <a:endParaRPr lang="en-US" dirty="0">
              <a:latin typeface="CMR12"/>
            </a:endParaRPr>
          </a:p>
        </p:txBody>
      </p:sp>
    </p:spTree>
    <p:extLst>
      <p:ext uri="{BB962C8B-B14F-4D97-AF65-F5344CB8AC3E}">
        <p14:creationId xmlns:p14="http://schemas.microsoft.com/office/powerpoint/2010/main" val="1890374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6296F9-4412-4FF5-962E-DF54F9F963D2}"/>
              </a:ext>
            </a:extLst>
          </p:cNvPr>
          <p:cNvSpPr>
            <a:spLocks noGrp="1"/>
          </p:cNvSpPr>
          <p:nvPr>
            <p:ph idx="1"/>
          </p:nvPr>
        </p:nvSpPr>
        <p:spPr/>
        <p:txBody>
          <a:bodyPr>
            <a:normAutofit lnSpcReduction="10000"/>
          </a:bodyPr>
          <a:lstStyle/>
          <a:p>
            <a:pPr algn="l"/>
            <a:r>
              <a:rPr lang="en-US" sz="1800" b="0" i="0" u="none" strike="noStrike" baseline="0" dirty="0">
                <a:latin typeface="Arial" panose="020B0604020202020204" pitchFamily="34" charset="0"/>
                <a:cs typeface="Arial" panose="020B0604020202020204" pitchFamily="34" charset="0"/>
              </a:rPr>
              <a:t>MCOS method is introduced for the sole purpose of estimating the allocation error produced by various methods given a set of input variables, and is thus especially useful to decide which method performs better for a </a:t>
            </a:r>
            <a:r>
              <a:rPr lang="en-US" sz="1800" b="0" i="0" u="none" strike="noStrike" baseline="0" dirty="0" err="1">
                <a:latin typeface="Arial" panose="020B0604020202020204" pitchFamily="34" charset="0"/>
                <a:cs typeface="Arial" panose="020B0604020202020204" pitchFamily="34" charset="0"/>
              </a:rPr>
              <a:t>specifc</a:t>
            </a:r>
            <a:r>
              <a:rPr lang="en-US" sz="1800" b="0" i="0" u="none" strike="noStrike" baseline="0" dirty="0">
                <a:latin typeface="Arial" panose="020B0604020202020204" pitchFamily="34" charset="0"/>
                <a:cs typeface="Arial" panose="020B0604020202020204" pitchFamily="34" charset="0"/>
              </a:rPr>
              <a:t> set of inputs.</a:t>
            </a:r>
          </a:p>
          <a:p>
            <a:pPr algn="l"/>
            <a:r>
              <a:rPr lang="en-US" dirty="0">
                <a:latin typeface="Arial" panose="020B0604020202020204" pitchFamily="34" charset="0"/>
                <a:cs typeface="Arial" panose="020B0604020202020204" pitchFamily="34" charset="0"/>
              </a:rPr>
              <a:t>The procedure can be summarized as follows:</a:t>
            </a:r>
          </a:p>
          <a:p>
            <a:pPr algn="l">
              <a:buFont typeface="+mj-lt"/>
              <a:buAutoNum type="arabicPeriod"/>
            </a:pPr>
            <a:r>
              <a:rPr lang="en-US" dirty="0">
                <a:latin typeface="Arial" panose="020B0604020202020204" pitchFamily="34" charset="0"/>
                <a:cs typeface="Arial" panose="020B0604020202020204" pitchFamily="34" charset="0"/>
              </a:rPr>
              <a:t>Obtain actual input data and obtain the actual allocation weights </a:t>
            </a:r>
          </a:p>
          <a:p>
            <a:pPr algn="l">
              <a:buFont typeface="+mj-lt"/>
              <a:buAutoNum type="arabicPeriod"/>
            </a:pPr>
            <a:r>
              <a:rPr lang="en-US" dirty="0">
                <a:latin typeface="Arial" panose="020B0604020202020204" pitchFamily="34" charset="0"/>
                <a:cs typeface="Arial" panose="020B0604020202020204" pitchFamily="34" charset="0"/>
              </a:rPr>
              <a:t>Simulate data based on the actual data a number of times and obtain their respective allocations</a:t>
            </a:r>
          </a:p>
          <a:p>
            <a:pPr algn="l">
              <a:buFont typeface="+mj-lt"/>
              <a:buAutoNum type="arabicPeriod"/>
            </a:pPr>
            <a:r>
              <a:rPr lang="en-US" dirty="0">
                <a:latin typeface="Arial" panose="020B0604020202020204" pitchFamily="34" charset="0"/>
                <a:cs typeface="Arial" panose="020B0604020202020204" pitchFamily="34" charset="0"/>
              </a:rPr>
              <a:t>Estimate the errors between the actual allocations and the simulated results</a:t>
            </a:r>
          </a:p>
          <a:p>
            <a:pPr algn="l">
              <a:buFont typeface="+mj-lt"/>
              <a:buAutoNum type="arabicPeriod"/>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actual inputs can either be generated from stylized results or from real world dataset.</a:t>
            </a:r>
          </a:p>
        </p:txBody>
      </p:sp>
      <p:sp>
        <p:nvSpPr>
          <p:cNvPr id="4" name="Title 1">
            <a:extLst>
              <a:ext uri="{FF2B5EF4-FFF2-40B4-BE49-F238E27FC236}">
                <a16:creationId xmlns:a16="http://schemas.microsoft.com/office/drawing/2014/main" id="{17107049-2AD5-47C4-A579-155B5969C38B}"/>
              </a:ext>
            </a:extLst>
          </p:cNvPr>
          <p:cNvSpPr txBox="1">
            <a:spLocks/>
          </p:cNvSpPr>
          <p:nvPr/>
        </p:nvSpPr>
        <p:spPr>
          <a:xfrm>
            <a:off x="677334" y="628454"/>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Monte Carlo Optimization Selection (MCOS)</a:t>
            </a:r>
            <a:endParaRPr lang="en-IN" dirty="0"/>
          </a:p>
        </p:txBody>
      </p:sp>
    </p:spTree>
    <p:extLst>
      <p:ext uri="{BB962C8B-B14F-4D97-AF65-F5344CB8AC3E}">
        <p14:creationId xmlns:p14="http://schemas.microsoft.com/office/powerpoint/2010/main" val="406775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010B7-21E1-4395-9D48-E8DE00B25A84}"/>
              </a:ext>
            </a:extLst>
          </p:cNvPr>
          <p:cNvSpPr>
            <a:spLocks noGrp="1"/>
          </p:cNvSpPr>
          <p:nvPr>
            <p:ph type="title"/>
          </p:nvPr>
        </p:nvSpPr>
        <p:spPr>
          <a:xfrm>
            <a:off x="715042" y="2692923"/>
            <a:ext cx="8596668" cy="1320800"/>
          </a:xfrm>
        </p:spPr>
        <p:txBody>
          <a:bodyPr/>
          <a:lstStyle/>
          <a:p>
            <a:r>
              <a:rPr lang="en-US" dirty="0"/>
              <a:t>Numerical Experiments</a:t>
            </a:r>
            <a:endParaRPr lang="en-IN" dirty="0"/>
          </a:p>
        </p:txBody>
      </p:sp>
    </p:spTree>
    <p:extLst>
      <p:ext uri="{BB962C8B-B14F-4D97-AF65-F5344CB8AC3E}">
        <p14:creationId xmlns:p14="http://schemas.microsoft.com/office/powerpoint/2010/main" val="1438986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76C126-1DA0-4CDD-A9E3-F40A873ADE62}"/>
              </a:ext>
            </a:extLst>
          </p:cNvPr>
          <p:cNvSpPr>
            <a:spLocks noGrp="1"/>
          </p:cNvSpPr>
          <p:nvPr>
            <p:ph idx="1"/>
          </p:nvPr>
        </p:nvSpPr>
        <p:spPr>
          <a:xfrm>
            <a:off x="677334" y="1517715"/>
            <a:ext cx="8702336" cy="4523647"/>
          </a:xfrm>
        </p:spPr>
        <p:txBody>
          <a:bodyPr>
            <a:normAutofit lnSpcReduction="10000"/>
          </a:bodyPr>
          <a:lstStyle/>
          <a:p>
            <a:pPr algn="l"/>
            <a:r>
              <a:rPr lang="en-US" dirty="0">
                <a:latin typeface="Arial" panose="020B0604020202020204" pitchFamily="34" charset="0"/>
                <a:cs typeface="Arial" panose="020B0604020202020204" pitchFamily="34" charset="0"/>
              </a:rPr>
              <a:t>O</a:t>
            </a:r>
            <a:r>
              <a:rPr lang="en-US" sz="1800" b="0" i="0" u="none" strike="noStrike" baseline="0" dirty="0">
                <a:latin typeface="Arial" panose="020B0604020202020204" pitchFamily="34" charset="0"/>
                <a:cs typeface="Arial" panose="020B0604020202020204" pitchFamily="34" charset="0"/>
              </a:rPr>
              <a:t>ur goal is to perform the standard constrained optimization via the </a:t>
            </a:r>
            <a:r>
              <a:rPr lang="en-US" sz="1800" b="0" i="1" u="none" strike="noStrike" baseline="0" dirty="0" err="1">
                <a:latin typeface="Arial" panose="020B0604020202020204" pitchFamily="34" charset="0"/>
                <a:cs typeface="Arial" panose="020B0604020202020204" pitchFamily="34" charset="0"/>
              </a:rPr>
              <a:t>quadprog</a:t>
            </a:r>
            <a:r>
              <a:rPr lang="en-US" dirty="0">
                <a:latin typeface="Arial" panose="020B0604020202020204" pitchFamily="34" charset="0"/>
                <a:cs typeface="Arial" panose="020B0604020202020204" pitchFamily="34" charset="0"/>
              </a:rPr>
              <a:t> </a:t>
            </a:r>
            <a:r>
              <a:rPr lang="en-US" sz="1800" b="0" i="0" u="none" strike="noStrike" baseline="0" dirty="0">
                <a:latin typeface="Arial" panose="020B0604020202020204" pitchFamily="34" charset="0"/>
                <a:cs typeface="Arial" panose="020B0604020202020204" pitchFamily="34" charset="0"/>
              </a:rPr>
              <a:t>solver in Python, with and without the denoising techniques and compare their performance based </a:t>
            </a:r>
            <a:r>
              <a:rPr lang="en-US" dirty="0">
                <a:latin typeface="Arial" panose="020B0604020202020204" pitchFamily="34" charset="0"/>
                <a:cs typeface="Arial" panose="020B0604020202020204" pitchFamily="34" charset="0"/>
              </a:rPr>
              <a:t>on the standard deviation of their RMSE.</a:t>
            </a:r>
          </a:p>
          <a:p>
            <a:pPr algn="l"/>
            <a:endParaRPr lang="en-IN" sz="1800" b="0" i="0" u="none" strike="noStrike" baseline="0" dirty="0">
              <a:latin typeface="Arial" panose="020B0604020202020204" pitchFamily="34" charset="0"/>
              <a:cs typeface="Arial" panose="020B0604020202020204" pitchFamily="34" charset="0"/>
            </a:endParaRPr>
          </a:p>
          <a:p>
            <a:pPr algn="l"/>
            <a:r>
              <a:rPr lang="en-IN" sz="1800" b="0" i="0" u="none" strike="noStrike" baseline="0" dirty="0">
                <a:latin typeface="Arial" panose="020B0604020202020204" pitchFamily="34" charset="0"/>
                <a:cs typeface="Arial" panose="020B0604020202020204" pitchFamily="34" charset="0"/>
              </a:rPr>
              <a:t>We </a:t>
            </a:r>
            <a:r>
              <a:rPr lang="en-US" sz="1800" b="0" i="0" u="none" strike="noStrike" baseline="0" dirty="0">
                <a:latin typeface="Arial" panose="020B0604020202020204" pitchFamily="34" charset="0"/>
                <a:cs typeface="Arial" panose="020B0604020202020204" pitchFamily="34" charset="0"/>
              </a:rPr>
              <a:t>further compare the Targeted shrinkage method under various cases of the shrinkage parameter </a:t>
            </a:r>
            <a:r>
              <a:rPr lang="en-IN" sz="1800" b="0" i="0" u="none" strike="noStrike" baseline="0" dirty="0">
                <a:latin typeface="Arial" panose="020B0604020202020204" pitchFamily="34" charset="0"/>
                <a:cs typeface="Arial" panose="020B0604020202020204" pitchFamily="34" charset="0"/>
              </a:rPr>
              <a:t>(at 0</a:t>
            </a:r>
            <a:r>
              <a:rPr lang="en-IN" dirty="0">
                <a:latin typeface="Arial" panose="020B0604020202020204" pitchFamily="34" charset="0"/>
                <a:cs typeface="Arial" panose="020B0604020202020204" pitchFamily="34" charset="0"/>
              </a:rPr>
              <a:t>.</a:t>
            </a:r>
            <a:r>
              <a:rPr lang="en-IN" sz="1800" b="0" i="0" u="none" strike="noStrike" baseline="0" dirty="0">
                <a:latin typeface="Arial" panose="020B0604020202020204" pitchFamily="34" charset="0"/>
                <a:cs typeface="Arial" panose="020B0604020202020204" pitchFamily="34" charset="0"/>
              </a:rPr>
              <a:t>1</a:t>
            </a:r>
            <a:r>
              <a:rPr lang="en-IN" dirty="0">
                <a:latin typeface="Arial" panose="020B0604020202020204" pitchFamily="34" charset="0"/>
                <a:cs typeface="Arial" panose="020B0604020202020204" pitchFamily="34" charset="0"/>
              </a:rPr>
              <a:t>, 0.</a:t>
            </a:r>
            <a:r>
              <a:rPr lang="en-IN" sz="1800" b="0" i="0" u="none" strike="noStrike" baseline="0" dirty="0">
                <a:latin typeface="Arial" panose="020B0604020202020204" pitchFamily="34" charset="0"/>
                <a:cs typeface="Arial" panose="020B0604020202020204" pitchFamily="34" charset="0"/>
              </a:rPr>
              <a:t>5 and 0.9) along with the effect of Shrinkage.</a:t>
            </a:r>
          </a:p>
          <a:p>
            <a:pPr algn="l"/>
            <a:endParaRPr lang="en-IN" dirty="0">
              <a:latin typeface="Arial" panose="020B0604020202020204" pitchFamily="34" charset="0"/>
              <a:cs typeface="Arial" panose="020B0604020202020204" pitchFamily="34" charset="0"/>
            </a:endParaRPr>
          </a:p>
          <a:p>
            <a:pPr algn="l"/>
            <a:r>
              <a:rPr lang="en-IN" dirty="0">
                <a:latin typeface="Arial" panose="020B0604020202020204" pitchFamily="34" charset="0"/>
                <a:cs typeface="Arial" panose="020B0604020202020204" pitchFamily="34" charset="0"/>
              </a:rPr>
              <a:t>We generate the actual expected return and covariance matrix (of size 10 blocks with 10 assets each), with off diagonal elements having correlation 0.5.</a:t>
            </a:r>
          </a:p>
          <a:p>
            <a:pPr algn="l"/>
            <a:endParaRPr lang="en-IN" dirty="0">
              <a:latin typeface="Arial" panose="020B0604020202020204" pitchFamily="34" charset="0"/>
              <a:cs typeface="Arial" panose="020B0604020202020204" pitchFamily="34" charset="0"/>
            </a:endParaRPr>
          </a:p>
          <a:p>
            <a:pPr algn="l"/>
            <a:r>
              <a:rPr lang="en-IN" dirty="0">
                <a:latin typeface="Arial" panose="020B0604020202020204" pitchFamily="34" charset="0"/>
                <a:cs typeface="Arial" panose="020B0604020202020204" pitchFamily="34" charset="0"/>
              </a:rPr>
              <a:t>We perform the MCOS method, under 10,000 simulations, with the various denoising techniques applied on the base </a:t>
            </a:r>
            <a:r>
              <a:rPr lang="en-IN" i="1" dirty="0" err="1">
                <a:latin typeface="Arial" panose="020B0604020202020204" pitchFamily="34" charset="0"/>
                <a:cs typeface="Arial" panose="020B0604020202020204" pitchFamily="34" charset="0"/>
              </a:rPr>
              <a:t>quadprog</a:t>
            </a:r>
            <a:r>
              <a:rPr lang="en-IN" dirty="0">
                <a:latin typeface="Arial" panose="020B0604020202020204" pitchFamily="34" charset="0"/>
                <a:cs typeface="Arial" panose="020B0604020202020204" pitchFamily="34" charset="0"/>
              </a:rPr>
              <a:t> function in Python.</a:t>
            </a:r>
          </a:p>
          <a:p>
            <a:pPr algn="l"/>
            <a:r>
              <a:rPr lang="en-IN" dirty="0">
                <a:latin typeface="Arial" panose="020B0604020202020204" pitchFamily="34" charset="0"/>
                <a:cs typeface="Arial" panose="020B0604020202020204" pitchFamily="34" charset="0"/>
              </a:rPr>
              <a:t>The test is performed to obtain both Minimum Variance and Maximum Sharpe Ratio Allocations</a:t>
            </a:r>
          </a:p>
        </p:txBody>
      </p:sp>
      <p:sp>
        <p:nvSpPr>
          <p:cNvPr id="4" name="Title 1">
            <a:extLst>
              <a:ext uri="{FF2B5EF4-FFF2-40B4-BE49-F238E27FC236}">
                <a16:creationId xmlns:a16="http://schemas.microsoft.com/office/drawing/2014/main" id="{63D6552F-3AE4-48DD-81C1-83AAFE6086F3}"/>
              </a:ext>
            </a:extLst>
          </p:cNvPr>
          <p:cNvSpPr>
            <a:spLocks noGrp="1"/>
          </p:cNvSpPr>
          <p:nvPr>
            <p:ph type="title"/>
          </p:nvPr>
        </p:nvSpPr>
        <p:spPr>
          <a:xfrm>
            <a:off x="677863" y="609600"/>
            <a:ext cx="8596139" cy="766713"/>
          </a:xfrm>
        </p:spPr>
        <p:txBody>
          <a:bodyPr>
            <a:normAutofit/>
          </a:bodyPr>
          <a:lstStyle/>
          <a:p>
            <a:r>
              <a:rPr lang="en-US" sz="2800" b="0" i="0" u="none" strike="noStrike" baseline="0" dirty="0">
                <a:latin typeface="Arial" panose="020B0604020202020204" pitchFamily="34" charset="0"/>
                <a:cs typeface="Arial" panose="020B0604020202020204" pitchFamily="34" charset="0"/>
              </a:rPr>
              <a:t>Test 1: Comparison of Denoising techniques </a:t>
            </a: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4022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3D29A-C417-4AF2-95BD-7B6D55AA7977}"/>
              </a:ext>
            </a:extLst>
          </p:cNvPr>
          <p:cNvSpPr>
            <a:spLocks noGrp="1"/>
          </p:cNvSpPr>
          <p:nvPr>
            <p:ph type="title"/>
          </p:nvPr>
        </p:nvSpPr>
        <p:spPr>
          <a:xfrm>
            <a:off x="677334" y="609600"/>
            <a:ext cx="8596668" cy="757287"/>
          </a:xfrm>
        </p:spPr>
        <p:txBody>
          <a:bodyPr>
            <a:normAutofit/>
          </a:bodyPr>
          <a:lstStyle/>
          <a:p>
            <a:r>
              <a:rPr lang="en-US" sz="2800" b="0" i="0" u="none" strike="noStrike" baseline="0" dirty="0">
                <a:latin typeface="Arial" panose="020B0604020202020204" pitchFamily="34" charset="0"/>
                <a:cs typeface="Arial" panose="020B0604020202020204" pitchFamily="34" charset="0"/>
              </a:rPr>
              <a:t>Test 1: Comparison of Denoising techniques </a:t>
            </a:r>
            <a:endParaRPr lang="en-IN" sz="2800" dirty="0">
              <a:latin typeface="Arial" panose="020B0604020202020204" pitchFamily="34" charset="0"/>
              <a:cs typeface="Arial" panose="020B0604020202020204" pitchFamily="34" charset="0"/>
            </a:endParaRPr>
          </a:p>
        </p:txBody>
      </p:sp>
      <p:graphicFrame>
        <p:nvGraphicFramePr>
          <p:cNvPr id="5" name="Table 5">
            <a:extLst>
              <a:ext uri="{FF2B5EF4-FFF2-40B4-BE49-F238E27FC236}">
                <a16:creationId xmlns:a16="http://schemas.microsoft.com/office/drawing/2014/main" id="{55C21490-B39D-41D5-BB92-54D797AAEB91}"/>
              </a:ext>
            </a:extLst>
          </p:cNvPr>
          <p:cNvGraphicFramePr>
            <a:graphicFrameLocks noGrp="1"/>
          </p:cNvGraphicFramePr>
          <p:nvPr>
            <p:ph idx="1"/>
            <p:extLst>
              <p:ext uri="{D42A27DB-BD31-4B8C-83A1-F6EECF244321}">
                <p14:modId xmlns:p14="http://schemas.microsoft.com/office/powerpoint/2010/main" val="760045586"/>
              </p:ext>
            </p:extLst>
          </p:nvPr>
        </p:nvGraphicFramePr>
        <p:xfrm>
          <a:off x="677863" y="2160588"/>
          <a:ext cx="8758368" cy="1702964"/>
        </p:xfrm>
        <a:graphic>
          <a:graphicData uri="http://schemas.openxmlformats.org/drawingml/2006/table">
            <a:tbl>
              <a:tblPr firstRow="1" bandRow="1">
                <a:tableStyleId>{93296810-A885-4BE3-A3E7-6D5BEEA58F35}</a:tableStyleId>
              </a:tblPr>
              <a:tblGrid>
                <a:gridCol w="1459728">
                  <a:extLst>
                    <a:ext uri="{9D8B030D-6E8A-4147-A177-3AD203B41FA5}">
                      <a16:colId xmlns:a16="http://schemas.microsoft.com/office/drawing/2014/main" val="2213842645"/>
                    </a:ext>
                  </a:extLst>
                </a:gridCol>
                <a:gridCol w="1459728">
                  <a:extLst>
                    <a:ext uri="{9D8B030D-6E8A-4147-A177-3AD203B41FA5}">
                      <a16:colId xmlns:a16="http://schemas.microsoft.com/office/drawing/2014/main" val="4278595026"/>
                    </a:ext>
                  </a:extLst>
                </a:gridCol>
                <a:gridCol w="1459728">
                  <a:extLst>
                    <a:ext uri="{9D8B030D-6E8A-4147-A177-3AD203B41FA5}">
                      <a16:colId xmlns:a16="http://schemas.microsoft.com/office/drawing/2014/main" val="2585460571"/>
                    </a:ext>
                  </a:extLst>
                </a:gridCol>
                <a:gridCol w="1459728">
                  <a:extLst>
                    <a:ext uri="{9D8B030D-6E8A-4147-A177-3AD203B41FA5}">
                      <a16:colId xmlns:a16="http://schemas.microsoft.com/office/drawing/2014/main" val="3320825849"/>
                    </a:ext>
                  </a:extLst>
                </a:gridCol>
                <a:gridCol w="1459728">
                  <a:extLst>
                    <a:ext uri="{9D8B030D-6E8A-4147-A177-3AD203B41FA5}">
                      <a16:colId xmlns:a16="http://schemas.microsoft.com/office/drawing/2014/main" val="1839019527"/>
                    </a:ext>
                  </a:extLst>
                </a:gridCol>
                <a:gridCol w="1459728">
                  <a:extLst>
                    <a:ext uri="{9D8B030D-6E8A-4147-A177-3AD203B41FA5}">
                      <a16:colId xmlns:a16="http://schemas.microsoft.com/office/drawing/2014/main" val="1507599995"/>
                    </a:ext>
                  </a:extLst>
                </a:gridCol>
              </a:tblGrid>
              <a:tr h="431324">
                <a:tc>
                  <a:txBody>
                    <a:bodyPr/>
                    <a:lstStyle/>
                    <a:p>
                      <a:endParaRPr lang="en-IN" dirty="0"/>
                    </a:p>
                  </a:txBody>
                  <a:tcPr/>
                </a:tc>
                <a:tc>
                  <a:txBody>
                    <a:bodyPr/>
                    <a:lstStyle/>
                    <a:p>
                      <a:r>
                        <a:rPr lang="en-US" dirty="0"/>
                        <a:t>No Denoising</a:t>
                      </a:r>
                      <a:endParaRPr lang="en-IN" dirty="0"/>
                    </a:p>
                  </a:txBody>
                  <a:tcPr/>
                </a:tc>
                <a:tc>
                  <a:txBody>
                    <a:bodyPr/>
                    <a:lstStyle/>
                    <a:p>
                      <a:r>
                        <a:rPr lang="en-IN" sz="1800" b="0" i="0" u="none" strike="noStrike" kern="1200" baseline="0" dirty="0">
                          <a:solidFill>
                            <a:schemeClr val="lt1"/>
                          </a:solidFill>
                          <a:latin typeface="+mn-lt"/>
                          <a:ea typeface="+mn-ea"/>
                          <a:cs typeface="+mn-cs"/>
                        </a:rPr>
                        <a:t>EC</a:t>
                      </a:r>
                      <a:endParaRPr lang="en-IN" dirty="0"/>
                    </a:p>
                  </a:txBody>
                  <a:tcPr/>
                </a:tc>
                <a:tc>
                  <a:txBody>
                    <a:bodyPr/>
                    <a:lstStyle/>
                    <a:p>
                      <a:r>
                        <a:rPr lang="en-IN" sz="1800" b="0" i="0" u="none" strike="noStrike" kern="1200" baseline="0" dirty="0">
                          <a:solidFill>
                            <a:schemeClr val="lt1"/>
                          </a:solidFill>
                          <a:latin typeface="+mn-lt"/>
                          <a:ea typeface="+mn-ea"/>
                          <a:cs typeface="+mn-cs"/>
                        </a:rPr>
                        <a:t>TS(0.1)</a:t>
                      </a:r>
                      <a:endParaRPr lang="en-IN" dirty="0"/>
                    </a:p>
                  </a:txBody>
                  <a:tcPr/>
                </a:tc>
                <a:tc>
                  <a:txBody>
                    <a:bodyPr/>
                    <a:lstStyle/>
                    <a:p>
                      <a:r>
                        <a:rPr lang="en-IN" sz="1800" b="0" i="0" u="none" strike="noStrike" kern="1200" baseline="0" dirty="0">
                          <a:solidFill>
                            <a:schemeClr val="lt1"/>
                          </a:solidFill>
                          <a:latin typeface="+mn-lt"/>
                          <a:ea typeface="+mn-ea"/>
                          <a:cs typeface="+mn-cs"/>
                        </a:rPr>
                        <a:t>TS(0.5)</a:t>
                      </a:r>
                      <a:endParaRPr lang="en-IN" dirty="0"/>
                    </a:p>
                  </a:txBody>
                  <a:tcPr/>
                </a:tc>
                <a:tc>
                  <a:txBody>
                    <a:bodyPr/>
                    <a:lstStyle/>
                    <a:p>
                      <a:r>
                        <a:rPr lang="en-IN" sz="1800" b="0" i="0" u="none" strike="noStrike" kern="1200" baseline="0" dirty="0">
                          <a:solidFill>
                            <a:schemeClr val="lt1"/>
                          </a:solidFill>
                          <a:latin typeface="+mn-lt"/>
                          <a:ea typeface="+mn-ea"/>
                          <a:cs typeface="+mn-cs"/>
                        </a:rPr>
                        <a:t>TS(0.9)</a:t>
                      </a:r>
                      <a:endParaRPr lang="en-IN" dirty="0"/>
                    </a:p>
                  </a:txBody>
                  <a:tcPr/>
                </a:tc>
                <a:extLst>
                  <a:ext uri="{0D108BD9-81ED-4DB2-BD59-A6C34878D82A}">
                    <a16:rowId xmlns:a16="http://schemas.microsoft.com/office/drawing/2014/main" val="1252274832"/>
                  </a:ext>
                </a:extLst>
              </a:tr>
              <a:tr h="422804">
                <a:tc>
                  <a:txBody>
                    <a:bodyPr/>
                    <a:lstStyle/>
                    <a:p>
                      <a:r>
                        <a:rPr lang="en-IN" sz="1800" b="0" i="0" u="none" strike="noStrike" kern="1200" baseline="0" dirty="0">
                          <a:solidFill>
                            <a:schemeClr val="dk1"/>
                          </a:solidFill>
                          <a:latin typeface="+mn-lt"/>
                          <a:ea typeface="+mn-ea"/>
                          <a:cs typeface="+mn-cs"/>
                        </a:rPr>
                        <a:t>No Shrinkage</a:t>
                      </a:r>
                      <a:endParaRPr lang="en-IN" dirty="0"/>
                    </a:p>
                  </a:txBody>
                  <a:tcPr/>
                </a:tc>
                <a:tc>
                  <a:txBody>
                    <a:bodyPr/>
                    <a:lstStyle/>
                    <a:p>
                      <a:r>
                        <a:rPr lang="en-IN" sz="1800" b="0" i="0" u="none" strike="noStrike" kern="1200" baseline="0" dirty="0">
                          <a:solidFill>
                            <a:schemeClr val="dk1"/>
                          </a:solidFill>
                          <a:latin typeface="+mn-lt"/>
                          <a:ea typeface="+mn-ea"/>
                          <a:cs typeface="+mn-cs"/>
                        </a:rPr>
                        <a:t>1.581</a:t>
                      </a:r>
                      <a:endParaRPr lang="en-IN" dirty="0"/>
                    </a:p>
                  </a:txBody>
                  <a:tcPr/>
                </a:tc>
                <a:tc>
                  <a:txBody>
                    <a:bodyPr/>
                    <a:lstStyle/>
                    <a:p>
                      <a:r>
                        <a:rPr lang="en-IN" sz="1800" b="0" i="0" u="none" strike="noStrike" kern="1200" baseline="0" dirty="0">
                          <a:solidFill>
                            <a:schemeClr val="dk1"/>
                          </a:solidFill>
                          <a:latin typeface="+mn-lt"/>
                          <a:ea typeface="+mn-ea"/>
                          <a:cs typeface="+mn-cs"/>
                        </a:rPr>
                        <a:t>1.393</a:t>
                      </a:r>
                      <a:endParaRPr lang="en-IN" dirty="0"/>
                    </a:p>
                  </a:txBody>
                  <a:tcPr/>
                </a:tc>
                <a:tc>
                  <a:txBody>
                    <a:bodyPr/>
                    <a:lstStyle/>
                    <a:p>
                      <a:r>
                        <a:rPr lang="en-IN" sz="1800" b="0" i="0" u="none" strike="noStrike" kern="1200" baseline="0" dirty="0">
                          <a:solidFill>
                            <a:schemeClr val="dk1"/>
                          </a:solidFill>
                          <a:latin typeface="+mn-lt"/>
                          <a:ea typeface="+mn-ea"/>
                          <a:cs typeface="+mn-cs"/>
                        </a:rPr>
                        <a:t>1.569</a:t>
                      </a:r>
                      <a:endParaRPr lang="en-IN" dirty="0"/>
                    </a:p>
                  </a:txBody>
                  <a:tcPr/>
                </a:tc>
                <a:tc>
                  <a:txBody>
                    <a:bodyPr/>
                    <a:lstStyle/>
                    <a:p>
                      <a:r>
                        <a:rPr lang="en-IN" sz="1800" b="0" i="0" u="none" strike="noStrike" kern="1200" baseline="0" dirty="0">
                          <a:solidFill>
                            <a:schemeClr val="dk1"/>
                          </a:solidFill>
                          <a:latin typeface="+mn-lt"/>
                          <a:ea typeface="+mn-ea"/>
                          <a:cs typeface="+mn-cs"/>
                        </a:rPr>
                        <a:t>1.665</a:t>
                      </a:r>
                      <a:endParaRPr lang="en-IN" dirty="0"/>
                    </a:p>
                  </a:txBody>
                  <a:tcPr/>
                </a:tc>
                <a:tc>
                  <a:txBody>
                    <a:bodyPr/>
                    <a:lstStyle/>
                    <a:p>
                      <a:r>
                        <a:rPr lang="en-IN" sz="1800" b="0" i="0" u="none" strike="noStrike" kern="1200" baseline="0" dirty="0">
                          <a:solidFill>
                            <a:schemeClr val="dk1"/>
                          </a:solidFill>
                          <a:latin typeface="+mn-lt"/>
                          <a:ea typeface="+mn-ea"/>
                          <a:cs typeface="+mn-cs"/>
                        </a:rPr>
                        <a:t>1.980</a:t>
                      </a:r>
                      <a:endParaRPr lang="en-IN" dirty="0"/>
                    </a:p>
                  </a:txBody>
                  <a:tcPr/>
                </a:tc>
                <a:extLst>
                  <a:ext uri="{0D108BD9-81ED-4DB2-BD59-A6C34878D82A}">
                    <a16:rowId xmlns:a16="http://schemas.microsoft.com/office/drawing/2014/main" val="2983266004"/>
                  </a:ext>
                </a:extLst>
              </a:tr>
              <a:tr h="422804">
                <a:tc>
                  <a:txBody>
                    <a:bodyPr/>
                    <a:lstStyle/>
                    <a:p>
                      <a:r>
                        <a:rPr lang="en-IN" sz="1800" b="0" i="0" u="none" strike="noStrike" kern="1200" baseline="0" dirty="0">
                          <a:solidFill>
                            <a:schemeClr val="dk1"/>
                          </a:solidFill>
                          <a:latin typeface="+mn-lt"/>
                          <a:ea typeface="+mn-ea"/>
                          <a:cs typeface="+mn-cs"/>
                        </a:rPr>
                        <a:t>Shrinkage</a:t>
                      </a:r>
                      <a:endParaRPr lang="en-IN" dirty="0"/>
                    </a:p>
                  </a:txBody>
                  <a:tcPr/>
                </a:tc>
                <a:tc>
                  <a:txBody>
                    <a:bodyPr/>
                    <a:lstStyle/>
                    <a:p>
                      <a:r>
                        <a:rPr lang="en-IN" sz="1800" b="0" i="0" u="none" strike="noStrike" kern="1200" baseline="0" dirty="0">
                          <a:solidFill>
                            <a:schemeClr val="dk1"/>
                          </a:solidFill>
                          <a:latin typeface="+mn-lt"/>
                          <a:ea typeface="+mn-ea"/>
                          <a:cs typeface="+mn-cs"/>
                        </a:rPr>
                        <a:t>1.615</a:t>
                      </a:r>
                      <a:endParaRPr lang="en-IN" dirty="0"/>
                    </a:p>
                  </a:txBody>
                  <a:tcPr/>
                </a:tc>
                <a:tc>
                  <a:txBody>
                    <a:bodyPr/>
                    <a:lstStyle/>
                    <a:p>
                      <a:r>
                        <a:rPr lang="en-IN" sz="1800" b="0" i="0" u="none" strike="noStrike" kern="1200" baseline="0" dirty="0">
                          <a:solidFill>
                            <a:schemeClr val="dk1"/>
                          </a:solidFill>
                          <a:latin typeface="+mn-lt"/>
                          <a:ea typeface="+mn-ea"/>
                          <a:cs typeface="+mn-cs"/>
                        </a:rPr>
                        <a:t>1.423</a:t>
                      </a:r>
                      <a:endParaRPr lang="en-IN" dirty="0"/>
                    </a:p>
                  </a:txBody>
                  <a:tcPr/>
                </a:tc>
                <a:tc>
                  <a:txBody>
                    <a:bodyPr/>
                    <a:lstStyle/>
                    <a:p>
                      <a:r>
                        <a:rPr lang="en-IN" sz="1800" b="0" i="0" u="none" strike="noStrike" kern="1200" baseline="0" dirty="0">
                          <a:solidFill>
                            <a:schemeClr val="dk1"/>
                          </a:solidFill>
                          <a:latin typeface="+mn-lt"/>
                          <a:ea typeface="+mn-ea"/>
                          <a:cs typeface="+mn-cs"/>
                        </a:rPr>
                        <a:t>1.574</a:t>
                      </a:r>
                      <a:endParaRPr lang="en-IN" dirty="0"/>
                    </a:p>
                  </a:txBody>
                  <a:tcPr/>
                </a:tc>
                <a:tc>
                  <a:txBody>
                    <a:bodyPr/>
                    <a:lstStyle/>
                    <a:p>
                      <a:r>
                        <a:rPr lang="en-IN" sz="1800" b="0" i="0" u="none" strike="noStrike" kern="1200" baseline="0" dirty="0">
                          <a:solidFill>
                            <a:schemeClr val="dk1"/>
                          </a:solidFill>
                          <a:latin typeface="+mn-lt"/>
                          <a:ea typeface="+mn-ea"/>
                          <a:cs typeface="+mn-cs"/>
                        </a:rPr>
                        <a:t>1.549</a:t>
                      </a:r>
                      <a:endParaRPr lang="en-IN" dirty="0"/>
                    </a:p>
                  </a:txBody>
                  <a:tcPr/>
                </a:tc>
                <a:tc>
                  <a:txBody>
                    <a:bodyPr/>
                    <a:lstStyle/>
                    <a:p>
                      <a:r>
                        <a:rPr lang="en-IN" sz="1800" b="0" i="0" u="none" strike="noStrike" kern="1200" baseline="0" dirty="0">
                          <a:solidFill>
                            <a:schemeClr val="dk1"/>
                          </a:solidFill>
                          <a:latin typeface="+mn-lt"/>
                          <a:ea typeface="+mn-ea"/>
                          <a:cs typeface="+mn-cs"/>
                        </a:rPr>
                        <a:t>1.765</a:t>
                      </a:r>
                      <a:endParaRPr lang="en-IN" dirty="0"/>
                    </a:p>
                  </a:txBody>
                  <a:tcPr/>
                </a:tc>
                <a:extLst>
                  <a:ext uri="{0D108BD9-81ED-4DB2-BD59-A6C34878D82A}">
                    <a16:rowId xmlns:a16="http://schemas.microsoft.com/office/drawing/2014/main" val="5157756"/>
                  </a:ext>
                </a:extLst>
              </a:tr>
            </a:tbl>
          </a:graphicData>
        </a:graphic>
      </p:graphicFrame>
      <p:graphicFrame>
        <p:nvGraphicFramePr>
          <p:cNvPr id="6" name="Table 6">
            <a:extLst>
              <a:ext uri="{FF2B5EF4-FFF2-40B4-BE49-F238E27FC236}">
                <a16:creationId xmlns:a16="http://schemas.microsoft.com/office/drawing/2014/main" id="{F7F5FD03-994C-4B63-82C4-9F5350E7C08B}"/>
              </a:ext>
            </a:extLst>
          </p:cNvPr>
          <p:cNvGraphicFramePr>
            <a:graphicFrameLocks noGrp="1"/>
          </p:cNvGraphicFramePr>
          <p:nvPr>
            <p:extLst>
              <p:ext uri="{D42A27DB-BD31-4B8C-83A1-F6EECF244321}">
                <p14:modId xmlns:p14="http://schemas.microsoft.com/office/powerpoint/2010/main" val="2797986675"/>
              </p:ext>
            </p:extLst>
          </p:nvPr>
        </p:nvGraphicFramePr>
        <p:xfrm>
          <a:off x="768807" y="4657252"/>
          <a:ext cx="8667426" cy="1810542"/>
        </p:xfrm>
        <a:graphic>
          <a:graphicData uri="http://schemas.openxmlformats.org/drawingml/2006/table">
            <a:tbl>
              <a:tblPr firstRow="1" bandRow="1">
                <a:tableStyleId>{93296810-A885-4BE3-A3E7-6D5BEEA58F35}</a:tableStyleId>
              </a:tblPr>
              <a:tblGrid>
                <a:gridCol w="1444571">
                  <a:extLst>
                    <a:ext uri="{9D8B030D-6E8A-4147-A177-3AD203B41FA5}">
                      <a16:colId xmlns:a16="http://schemas.microsoft.com/office/drawing/2014/main" val="3514917201"/>
                    </a:ext>
                  </a:extLst>
                </a:gridCol>
                <a:gridCol w="1444571">
                  <a:extLst>
                    <a:ext uri="{9D8B030D-6E8A-4147-A177-3AD203B41FA5}">
                      <a16:colId xmlns:a16="http://schemas.microsoft.com/office/drawing/2014/main" val="3798958577"/>
                    </a:ext>
                  </a:extLst>
                </a:gridCol>
                <a:gridCol w="1444571">
                  <a:extLst>
                    <a:ext uri="{9D8B030D-6E8A-4147-A177-3AD203B41FA5}">
                      <a16:colId xmlns:a16="http://schemas.microsoft.com/office/drawing/2014/main" val="1375095295"/>
                    </a:ext>
                  </a:extLst>
                </a:gridCol>
                <a:gridCol w="1444571">
                  <a:extLst>
                    <a:ext uri="{9D8B030D-6E8A-4147-A177-3AD203B41FA5}">
                      <a16:colId xmlns:a16="http://schemas.microsoft.com/office/drawing/2014/main" val="1295327346"/>
                    </a:ext>
                  </a:extLst>
                </a:gridCol>
                <a:gridCol w="1444571">
                  <a:extLst>
                    <a:ext uri="{9D8B030D-6E8A-4147-A177-3AD203B41FA5}">
                      <a16:colId xmlns:a16="http://schemas.microsoft.com/office/drawing/2014/main" val="2762047239"/>
                    </a:ext>
                  </a:extLst>
                </a:gridCol>
                <a:gridCol w="1444571">
                  <a:extLst>
                    <a:ext uri="{9D8B030D-6E8A-4147-A177-3AD203B41FA5}">
                      <a16:colId xmlns:a16="http://schemas.microsoft.com/office/drawing/2014/main" val="3089344931"/>
                    </a:ext>
                  </a:extLst>
                </a:gridCol>
              </a:tblGrid>
              <a:tr h="530382">
                <a:tc>
                  <a:txBody>
                    <a:bodyPr/>
                    <a:lstStyle/>
                    <a:p>
                      <a:endParaRPr lang="en-IN" dirty="0"/>
                    </a:p>
                  </a:txBody>
                  <a:tcPr/>
                </a:tc>
                <a:tc>
                  <a:txBody>
                    <a:bodyPr/>
                    <a:lstStyle/>
                    <a:p>
                      <a:r>
                        <a:rPr lang="en-US" dirty="0"/>
                        <a:t>No Denoising</a:t>
                      </a:r>
                      <a:endParaRPr lang="en-IN" dirty="0"/>
                    </a:p>
                  </a:txBody>
                  <a:tcPr/>
                </a:tc>
                <a:tc>
                  <a:txBody>
                    <a:bodyPr/>
                    <a:lstStyle/>
                    <a:p>
                      <a:r>
                        <a:rPr lang="en-US" dirty="0"/>
                        <a:t>EC</a:t>
                      </a:r>
                      <a:endParaRPr lang="en-IN" dirty="0"/>
                    </a:p>
                  </a:txBody>
                  <a:tcPr/>
                </a:tc>
                <a:tc>
                  <a:txBody>
                    <a:bodyPr/>
                    <a:lstStyle/>
                    <a:p>
                      <a:r>
                        <a:rPr lang="en-IN" sz="1800" b="0" i="0" u="none" strike="noStrike" kern="1200" baseline="0" dirty="0">
                          <a:solidFill>
                            <a:schemeClr val="lt1"/>
                          </a:solidFill>
                          <a:latin typeface="+mn-lt"/>
                          <a:ea typeface="+mn-ea"/>
                          <a:cs typeface="+mn-cs"/>
                        </a:rPr>
                        <a:t>TS(0.1)</a:t>
                      </a:r>
                      <a:endParaRPr lang="en-IN" dirty="0"/>
                    </a:p>
                  </a:txBody>
                  <a:tcPr/>
                </a:tc>
                <a:tc>
                  <a:txBody>
                    <a:bodyPr/>
                    <a:lstStyle/>
                    <a:p>
                      <a:r>
                        <a:rPr lang="en-IN" sz="1800" b="0" i="0" u="none" strike="noStrike" kern="1200" baseline="0" dirty="0">
                          <a:solidFill>
                            <a:schemeClr val="lt1"/>
                          </a:solidFill>
                          <a:latin typeface="+mn-lt"/>
                          <a:ea typeface="+mn-ea"/>
                          <a:cs typeface="+mn-cs"/>
                        </a:rPr>
                        <a:t>TS(0.5)</a:t>
                      </a:r>
                      <a:endParaRPr lang="en-IN" dirty="0"/>
                    </a:p>
                  </a:txBody>
                  <a:tcPr/>
                </a:tc>
                <a:tc>
                  <a:txBody>
                    <a:bodyPr/>
                    <a:lstStyle/>
                    <a:p>
                      <a:r>
                        <a:rPr lang="en-IN" sz="1800" b="0" i="0" u="none" strike="noStrike" kern="1200" baseline="0" dirty="0">
                          <a:solidFill>
                            <a:schemeClr val="lt1"/>
                          </a:solidFill>
                          <a:latin typeface="+mn-lt"/>
                          <a:ea typeface="+mn-ea"/>
                          <a:cs typeface="+mn-cs"/>
                        </a:rPr>
                        <a:t>TS(0.9)</a:t>
                      </a:r>
                      <a:endParaRPr lang="en-IN" dirty="0"/>
                    </a:p>
                  </a:txBody>
                  <a:tcPr/>
                </a:tc>
                <a:extLst>
                  <a:ext uri="{0D108BD9-81ED-4DB2-BD59-A6C34878D82A}">
                    <a16:rowId xmlns:a16="http://schemas.microsoft.com/office/drawing/2014/main" val="1695787575"/>
                  </a:ext>
                </a:extLst>
              </a:tr>
              <a:tr h="530382">
                <a:tc>
                  <a:txBody>
                    <a:bodyPr/>
                    <a:lstStyle/>
                    <a:p>
                      <a:r>
                        <a:rPr lang="en-IN" sz="1800" b="0" i="0" u="none" strike="noStrike" kern="1200" baseline="0" dirty="0">
                          <a:solidFill>
                            <a:schemeClr val="dk1"/>
                          </a:solidFill>
                          <a:latin typeface="+mn-lt"/>
                          <a:ea typeface="+mn-ea"/>
                          <a:cs typeface="+mn-cs"/>
                        </a:rPr>
                        <a:t>No Shrinkage</a:t>
                      </a:r>
                      <a:endParaRPr lang="en-IN" dirty="0"/>
                    </a:p>
                  </a:txBody>
                  <a:tcPr/>
                </a:tc>
                <a:tc>
                  <a:txBody>
                    <a:bodyPr/>
                    <a:lstStyle/>
                    <a:p>
                      <a:r>
                        <a:rPr lang="en-US" dirty="0"/>
                        <a:t>1.95</a:t>
                      </a:r>
                      <a:endParaRPr lang="en-IN" dirty="0"/>
                    </a:p>
                  </a:txBody>
                  <a:tcPr/>
                </a:tc>
                <a:tc>
                  <a:txBody>
                    <a:bodyPr/>
                    <a:lstStyle/>
                    <a:p>
                      <a:r>
                        <a:rPr lang="en-US" dirty="0"/>
                        <a:t>1.679</a:t>
                      </a:r>
                      <a:endParaRPr lang="en-IN" dirty="0"/>
                    </a:p>
                  </a:txBody>
                  <a:tcPr/>
                </a:tc>
                <a:tc>
                  <a:txBody>
                    <a:bodyPr/>
                    <a:lstStyle/>
                    <a:p>
                      <a:r>
                        <a:rPr lang="en-US" dirty="0"/>
                        <a:t>1.930</a:t>
                      </a:r>
                      <a:endParaRPr lang="en-IN" dirty="0"/>
                    </a:p>
                  </a:txBody>
                  <a:tcPr/>
                </a:tc>
                <a:tc>
                  <a:txBody>
                    <a:bodyPr/>
                    <a:lstStyle/>
                    <a:p>
                      <a:r>
                        <a:rPr lang="en-US" dirty="0"/>
                        <a:t>2.043</a:t>
                      </a:r>
                      <a:endParaRPr lang="en-IN" dirty="0"/>
                    </a:p>
                  </a:txBody>
                  <a:tcPr/>
                </a:tc>
                <a:tc>
                  <a:txBody>
                    <a:bodyPr/>
                    <a:lstStyle/>
                    <a:p>
                      <a:r>
                        <a:rPr lang="en-US" dirty="0"/>
                        <a:t>2.428</a:t>
                      </a:r>
                      <a:endParaRPr lang="en-IN" dirty="0"/>
                    </a:p>
                  </a:txBody>
                  <a:tcPr/>
                </a:tc>
                <a:extLst>
                  <a:ext uri="{0D108BD9-81ED-4DB2-BD59-A6C34878D82A}">
                    <a16:rowId xmlns:a16="http://schemas.microsoft.com/office/drawing/2014/main" val="2552275711"/>
                  </a:ext>
                </a:extLst>
              </a:tr>
              <a:tr h="530382">
                <a:tc>
                  <a:txBody>
                    <a:bodyPr/>
                    <a:lstStyle/>
                    <a:p>
                      <a:r>
                        <a:rPr lang="en-IN" sz="1800" b="0" i="0" u="none" strike="noStrike" kern="1200" baseline="0" dirty="0">
                          <a:solidFill>
                            <a:schemeClr val="dk1"/>
                          </a:solidFill>
                          <a:latin typeface="+mn-lt"/>
                          <a:ea typeface="+mn-ea"/>
                          <a:cs typeface="+mn-cs"/>
                        </a:rPr>
                        <a:t>Shrinkage</a:t>
                      </a:r>
                      <a:endParaRPr lang="en-IN" dirty="0"/>
                    </a:p>
                  </a:txBody>
                  <a:tcPr/>
                </a:tc>
                <a:tc>
                  <a:txBody>
                    <a:bodyPr/>
                    <a:lstStyle/>
                    <a:p>
                      <a:r>
                        <a:rPr lang="en-US" dirty="0"/>
                        <a:t>1.962</a:t>
                      </a:r>
                      <a:endParaRPr lang="en-IN" dirty="0"/>
                    </a:p>
                  </a:txBody>
                  <a:tcPr/>
                </a:tc>
                <a:tc>
                  <a:txBody>
                    <a:bodyPr/>
                    <a:lstStyle/>
                    <a:p>
                      <a:r>
                        <a:rPr lang="en-US" dirty="0"/>
                        <a:t>1.706</a:t>
                      </a:r>
                      <a:endParaRPr lang="en-IN" dirty="0"/>
                    </a:p>
                  </a:txBody>
                  <a:tcPr/>
                </a:tc>
                <a:tc>
                  <a:txBody>
                    <a:bodyPr/>
                    <a:lstStyle/>
                    <a:p>
                      <a:r>
                        <a:rPr lang="en-US" dirty="0"/>
                        <a:t>1.939</a:t>
                      </a:r>
                      <a:endParaRPr lang="en-IN" dirty="0"/>
                    </a:p>
                  </a:txBody>
                  <a:tcPr/>
                </a:tc>
                <a:tc>
                  <a:txBody>
                    <a:bodyPr/>
                    <a:lstStyle/>
                    <a:p>
                      <a:r>
                        <a:rPr lang="en-US" dirty="0"/>
                        <a:t>2.045</a:t>
                      </a:r>
                      <a:endParaRPr lang="en-IN" dirty="0"/>
                    </a:p>
                  </a:txBody>
                  <a:tcPr/>
                </a:tc>
                <a:tc>
                  <a:txBody>
                    <a:bodyPr/>
                    <a:lstStyle/>
                    <a:p>
                      <a:r>
                        <a:rPr lang="en-US" dirty="0"/>
                        <a:t>2.427</a:t>
                      </a:r>
                      <a:endParaRPr lang="en-IN" dirty="0"/>
                    </a:p>
                  </a:txBody>
                  <a:tcPr/>
                </a:tc>
                <a:extLst>
                  <a:ext uri="{0D108BD9-81ED-4DB2-BD59-A6C34878D82A}">
                    <a16:rowId xmlns:a16="http://schemas.microsoft.com/office/drawing/2014/main" val="4126607492"/>
                  </a:ext>
                </a:extLst>
              </a:tr>
            </a:tbl>
          </a:graphicData>
        </a:graphic>
      </p:graphicFrame>
      <p:sp>
        <p:nvSpPr>
          <p:cNvPr id="7" name="TextBox 6">
            <a:extLst>
              <a:ext uri="{FF2B5EF4-FFF2-40B4-BE49-F238E27FC236}">
                <a16:creationId xmlns:a16="http://schemas.microsoft.com/office/drawing/2014/main" id="{32F1145B-91B1-4202-88F2-B8F3A884C247}"/>
              </a:ext>
            </a:extLst>
          </p:cNvPr>
          <p:cNvSpPr txBox="1"/>
          <p:nvPr/>
        </p:nvSpPr>
        <p:spPr>
          <a:xfrm>
            <a:off x="801278" y="1536569"/>
            <a:ext cx="8472724" cy="369332"/>
          </a:xfrm>
          <a:prstGeom prst="rect">
            <a:avLst/>
          </a:prstGeom>
          <a:noFill/>
        </p:spPr>
        <p:txBody>
          <a:bodyPr wrap="square" rtlCol="0">
            <a:spAutoFit/>
          </a:bodyPr>
          <a:lstStyle/>
          <a:p>
            <a:r>
              <a:rPr lang="en-US" dirty="0"/>
              <a:t>Table1: Minimum Variance Portfolio</a:t>
            </a:r>
            <a:endParaRPr lang="en-IN" dirty="0"/>
          </a:p>
        </p:txBody>
      </p:sp>
      <p:sp>
        <p:nvSpPr>
          <p:cNvPr id="8" name="TextBox 7">
            <a:extLst>
              <a:ext uri="{FF2B5EF4-FFF2-40B4-BE49-F238E27FC236}">
                <a16:creationId xmlns:a16="http://schemas.microsoft.com/office/drawing/2014/main" id="{E9727B6E-C12B-4756-AFFB-D864CC441B06}"/>
              </a:ext>
            </a:extLst>
          </p:cNvPr>
          <p:cNvSpPr txBox="1"/>
          <p:nvPr/>
        </p:nvSpPr>
        <p:spPr>
          <a:xfrm>
            <a:off x="801278" y="4118239"/>
            <a:ext cx="8634953" cy="369332"/>
          </a:xfrm>
          <a:prstGeom prst="rect">
            <a:avLst/>
          </a:prstGeom>
          <a:noFill/>
        </p:spPr>
        <p:txBody>
          <a:bodyPr wrap="square" rtlCol="0">
            <a:spAutoFit/>
          </a:bodyPr>
          <a:lstStyle/>
          <a:p>
            <a:r>
              <a:rPr lang="en-US" dirty="0"/>
              <a:t>Table 2: Maximum Sharpe Ratio Portfolio</a:t>
            </a:r>
            <a:endParaRPr lang="en-IN" dirty="0"/>
          </a:p>
        </p:txBody>
      </p:sp>
    </p:spTree>
    <p:extLst>
      <p:ext uri="{BB962C8B-B14F-4D97-AF65-F5344CB8AC3E}">
        <p14:creationId xmlns:p14="http://schemas.microsoft.com/office/powerpoint/2010/main" val="3056048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76C126-1DA0-4CDD-A9E3-F40A873ADE62}"/>
              </a:ext>
            </a:extLst>
          </p:cNvPr>
          <p:cNvSpPr>
            <a:spLocks noGrp="1"/>
          </p:cNvSpPr>
          <p:nvPr>
            <p:ph idx="1"/>
          </p:nvPr>
        </p:nvSpPr>
        <p:spPr>
          <a:xfrm>
            <a:off x="677334" y="1517715"/>
            <a:ext cx="8702336" cy="4523647"/>
          </a:xfrm>
        </p:spPr>
        <p:txBody>
          <a:bodyPr/>
          <a:lstStyle/>
          <a:p>
            <a:r>
              <a:rPr lang="en-IN" dirty="0">
                <a:latin typeface="Arial" panose="020B0604020202020204" pitchFamily="34" charset="0"/>
                <a:cs typeface="Arial" panose="020B0604020202020204" pitchFamily="34" charset="0"/>
              </a:rPr>
              <a:t>We generate the actual expected return and covariance matrix (of size 10 blocks with 10 assets each), with off diagonal elements having correlation 0.5.</a:t>
            </a:r>
          </a:p>
          <a:p>
            <a:pPr algn="l"/>
            <a:endParaRPr lang="en-IN" dirty="0">
              <a:latin typeface="Arial" panose="020B0604020202020204" pitchFamily="34" charset="0"/>
              <a:cs typeface="Arial" panose="020B0604020202020204" pitchFamily="34" charset="0"/>
            </a:endParaRPr>
          </a:p>
          <a:p>
            <a:pPr algn="l"/>
            <a:r>
              <a:rPr lang="en-IN" dirty="0">
                <a:latin typeface="Arial" panose="020B0604020202020204" pitchFamily="34" charset="0"/>
                <a:cs typeface="Arial" panose="020B0604020202020204" pitchFamily="34" charset="0"/>
              </a:rPr>
              <a:t>Based on the previous result, we perform Eigen clipping as a denoising technique.</a:t>
            </a:r>
          </a:p>
          <a:p>
            <a:pPr algn="l"/>
            <a:endParaRPr lang="en-IN" dirty="0">
              <a:latin typeface="Arial" panose="020B0604020202020204" pitchFamily="34" charset="0"/>
              <a:cs typeface="Arial" panose="020B0604020202020204" pitchFamily="34" charset="0"/>
            </a:endParaRPr>
          </a:p>
          <a:p>
            <a:pPr algn="l"/>
            <a:r>
              <a:rPr lang="en-IN" dirty="0">
                <a:latin typeface="Arial" panose="020B0604020202020204" pitchFamily="34" charset="0"/>
                <a:cs typeface="Arial" panose="020B0604020202020204" pitchFamily="34" charset="0"/>
              </a:rPr>
              <a:t>We apply each of the optimization methods discussed </a:t>
            </a:r>
            <a:r>
              <a:rPr lang="en-IN" dirty="0" err="1">
                <a:latin typeface="Arial" panose="020B0604020202020204" pitchFamily="34" charset="0"/>
                <a:cs typeface="Arial" panose="020B0604020202020204" pitchFamily="34" charset="0"/>
              </a:rPr>
              <a:t>alongwith</a:t>
            </a:r>
            <a:r>
              <a:rPr lang="en-IN" dirty="0">
                <a:latin typeface="Arial" panose="020B0604020202020204" pitchFamily="34" charset="0"/>
                <a:cs typeface="Arial" panose="020B0604020202020204" pitchFamily="34" charset="0"/>
              </a:rPr>
              <a:t> the inbuilt numerical solver, using the MCOS method, over 1000 runs. </a:t>
            </a:r>
          </a:p>
          <a:p>
            <a:pPr algn="l"/>
            <a:endParaRPr lang="en-IN" dirty="0">
              <a:latin typeface="Arial" panose="020B0604020202020204" pitchFamily="34" charset="0"/>
              <a:cs typeface="Arial" panose="020B0604020202020204" pitchFamily="34" charset="0"/>
            </a:endParaRPr>
          </a:p>
          <a:p>
            <a:pPr algn="l"/>
            <a:r>
              <a:rPr lang="en-IN" dirty="0">
                <a:latin typeface="Arial" panose="020B0604020202020204" pitchFamily="34" charset="0"/>
                <a:cs typeface="Arial" panose="020B0604020202020204" pitchFamily="34" charset="0"/>
              </a:rPr>
              <a:t>Comparison is based on the respective RMSE of weights and variation of expected returns</a:t>
            </a:r>
          </a:p>
        </p:txBody>
      </p:sp>
      <p:sp>
        <p:nvSpPr>
          <p:cNvPr id="4" name="Title 1">
            <a:extLst>
              <a:ext uri="{FF2B5EF4-FFF2-40B4-BE49-F238E27FC236}">
                <a16:creationId xmlns:a16="http://schemas.microsoft.com/office/drawing/2014/main" id="{63D6552F-3AE4-48DD-81C1-83AAFE6086F3}"/>
              </a:ext>
            </a:extLst>
          </p:cNvPr>
          <p:cNvSpPr>
            <a:spLocks noGrp="1"/>
          </p:cNvSpPr>
          <p:nvPr>
            <p:ph type="title"/>
          </p:nvPr>
        </p:nvSpPr>
        <p:spPr>
          <a:xfrm>
            <a:off x="677863" y="609600"/>
            <a:ext cx="7881675" cy="738433"/>
          </a:xfrm>
        </p:spPr>
        <p:txBody>
          <a:bodyPr>
            <a:normAutofit fontScale="90000"/>
          </a:bodyPr>
          <a:lstStyle/>
          <a:p>
            <a:r>
              <a:rPr lang="en-US" sz="2800" b="0" i="0" u="none" strike="noStrike" baseline="0" dirty="0">
                <a:latin typeface="Arial" panose="020B0604020202020204" pitchFamily="34" charset="0"/>
                <a:cs typeface="Arial" panose="020B0604020202020204" pitchFamily="34" charset="0"/>
              </a:rPr>
              <a:t>Test 2: Comparison of Optimization Techniques on Simu</a:t>
            </a:r>
            <a:r>
              <a:rPr lang="en-IN" sz="2800" b="0" i="0" u="none" strike="noStrike" baseline="0" dirty="0" err="1">
                <a:latin typeface="Arial" panose="020B0604020202020204" pitchFamily="34" charset="0"/>
                <a:cs typeface="Arial" panose="020B0604020202020204" pitchFamily="34" charset="0"/>
              </a:rPr>
              <a:t>lated</a:t>
            </a:r>
            <a:r>
              <a:rPr lang="en-IN" sz="2800" b="0" i="0" u="none" strike="noStrike" baseline="0" dirty="0">
                <a:latin typeface="Arial" panose="020B0604020202020204" pitchFamily="34" charset="0"/>
                <a:cs typeface="Arial" panose="020B0604020202020204" pitchFamily="34" charset="0"/>
              </a:rPr>
              <a:t> Data</a:t>
            </a: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0149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3D29A-C417-4AF2-95BD-7B6D55AA7977}"/>
              </a:ext>
            </a:extLst>
          </p:cNvPr>
          <p:cNvSpPr>
            <a:spLocks noGrp="1"/>
          </p:cNvSpPr>
          <p:nvPr>
            <p:ph type="title"/>
          </p:nvPr>
        </p:nvSpPr>
        <p:spPr>
          <a:xfrm>
            <a:off x="0" y="588169"/>
            <a:ext cx="10137184" cy="757288"/>
          </a:xfrm>
        </p:spPr>
        <p:txBody>
          <a:bodyPr>
            <a:normAutofit/>
          </a:bodyPr>
          <a:lstStyle/>
          <a:p>
            <a:r>
              <a:rPr lang="en-US" sz="2800" b="0" i="0" u="none" strike="noStrike" baseline="0" dirty="0">
                <a:latin typeface="CMBX12"/>
              </a:rPr>
              <a:t>Test 2: Comparison of Optimization Techniques on Simu</a:t>
            </a:r>
            <a:r>
              <a:rPr lang="en-IN" sz="2800" b="0" i="0" u="none" strike="noStrike" baseline="0" dirty="0" err="1">
                <a:latin typeface="CMBX12"/>
              </a:rPr>
              <a:t>lated</a:t>
            </a:r>
            <a:r>
              <a:rPr lang="en-IN" sz="2800" b="0" i="0" u="none" strike="noStrike" baseline="0" dirty="0">
                <a:latin typeface="CMBX12"/>
              </a:rPr>
              <a:t> Data</a:t>
            </a:r>
            <a:endParaRPr lang="en-IN" sz="2800" dirty="0">
              <a:latin typeface="Arial" panose="020B0604020202020204" pitchFamily="34" charset="0"/>
              <a:cs typeface="Arial" panose="020B0604020202020204" pitchFamily="34" charset="0"/>
            </a:endParaRPr>
          </a:p>
        </p:txBody>
      </p:sp>
      <p:graphicFrame>
        <p:nvGraphicFramePr>
          <p:cNvPr id="3" name="Table 3">
            <a:extLst>
              <a:ext uri="{FF2B5EF4-FFF2-40B4-BE49-F238E27FC236}">
                <a16:creationId xmlns:a16="http://schemas.microsoft.com/office/drawing/2014/main" id="{AD011A29-1A20-4EA3-BC65-F127328A9D70}"/>
              </a:ext>
            </a:extLst>
          </p:cNvPr>
          <p:cNvGraphicFramePr>
            <a:graphicFrameLocks noGrp="1"/>
          </p:cNvGraphicFramePr>
          <p:nvPr>
            <p:extLst>
              <p:ext uri="{D42A27DB-BD31-4B8C-83A1-F6EECF244321}">
                <p14:modId xmlns:p14="http://schemas.microsoft.com/office/powerpoint/2010/main" val="1223896037"/>
              </p:ext>
            </p:extLst>
          </p:nvPr>
        </p:nvGraphicFramePr>
        <p:xfrm>
          <a:off x="898226" y="2199674"/>
          <a:ext cx="8375775" cy="1476780"/>
        </p:xfrm>
        <a:graphic>
          <a:graphicData uri="http://schemas.openxmlformats.org/drawingml/2006/table">
            <a:tbl>
              <a:tblPr firstRow="1" bandRow="1">
                <a:tableStyleId>{93296810-A885-4BE3-A3E7-6D5BEEA58F35}</a:tableStyleId>
              </a:tblPr>
              <a:tblGrid>
                <a:gridCol w="1675155">
                  <a:extLst>
                    <a:ext uri="{9D8B030D-6E8A-4147-A177-3AD203B41FA5}">
                      <a16:colId xmlns:a16="http://schemas.microsoft.com/office/drawing/2014/main" val="3443397823"/>
                    </a:ext>
                  </a:extLst>
                </a:gridCol>
                <a:gridCol w="1675155">
                  <a:extLst>
                    <a:ext uri="{9D8B030D-6E8A-4147-A177-3AD203B41FA5}">
                      <a16:colId xmlns:a16="http://schemas.microsoft.com/office/drawing/2014/main" val="2312264904"/>
                    </a:ext>
                  </a:extLst>
                </a:gridCol>
                <a:gridCol w="1675155">
                  <a:extLst>
                    <a:ext uri="{9D8B030D-6E8A-4147-A177-3AD203B41FA5}">
                      <a16:colId xmlns:a16="http://schemas.microsoft.com/office/drawing/2014/main" val="885157618"/>
                    </a:ext>
                  </a:extLst>
                </a:gridCol>
                <a:gridCol w="1675155">
                  <a:extLst>
                    <a:ext uri="{9D8B030D-6E8A-4147-A177-3AD203B41FA5}">
                      <a16:colId xmlns:a16="http://schemas.microsoft.com/office/drawing/2014/main" val="2209163325"/>
                    </a:ext>
                  </a:extLst>
                </a:gridCol>
                <a:gridCol w="1675155">
                  <a:extLst>
                    <a:ext uri="{9D8B030D-6E8A-4147-A177-3AD203B41FA5}">
                      <a16:colId xmlns:a16="http://schemas.microsoft.com/office/drawing/2014/main" val="2504308719"/>
                    </a:ext>
                  </a:extLst>
                </a:gridCol>
              </a:tblGrid>
              <a:tr h="492260">
                <a:tc>
                  <a:txBody>
                    <a:bodyPr/>
                    <a:lstStyle/>
                    <a:p>
                      <a:r>
                        <a:rPr lang="en-US" dirty="0"/>
                        <a:t>Xe-03</a:t>
                      </a:r>
                      <a:endParaRPr lang="en-IN" dirty="0"/>
                    </a:p>
                  </a:txBody>
                  <a:tcPr/>
                </a:tc>
                <a:tc>
                  <a:txBody>
                    <a:bodyPr/>
                    <a:lstStyle/>
                    <a:p>
                      <a:r>
                        <a:rPr lang="en-US" dirty="0"/>
                        <a:t>MVO</a:t>
                      </a:r>
                      <a:endParaRPr lang="en-IN" dirty="0"/>
                    </a:p>
                  </a:txBody>
                  <a:tcPr/>
                </a:tc>
                <a:tc>
                  <a:txBody>
                    <a:bodyPr/>
                    <a:lstStyle/>
                    <a:p>
                      <a:r>
                        <a:rPr lang="en-US" dirty="0"/>
                        <a:t>CLA</a:t>
                      </a:r>
                      <a:endParaRPr lang="en-IN" dirty="0"/>
                    </a:p>
                  </a:txBody>
                  <a:tcPr/>
                </a:tc>
                <a:tc>
                  <a:txBody>
                    <a:bodyPr/>
                    <a:lstStyle/>
                    <a:p>
                      <a:r>
                        <a:rPr lang="en-US" dirty="0"/>
                        <a:t>HRP</a:t>
                      </a:r>
                      <a:endParaRPr lang="en-IN" dirty="0"/>
                    </a:p>
                  </a:txBody>
                  <a:tcPr/>
                </a:tc>
                <a:tc>
                  <a:txBody>
                    <a:bodyPr/>
                    <a:lstStyle/>
                    <a:p>
                      <a:r>
                        <a:rPr lang="en-US" dirty="0"/>
                        <a:t>NCO</a:t>
                      </a:r>
                      <a:endParaRPr lang="en-IN" dirty="0"/>
                    </a:p>
                  </a:txBody>
                  <a:tcPr/>
                </a:tc>
                <a:extLst>
                  <a:ext uri="{0D108BD9-81ED-4DB2-BD59-A6C34878D82A}">
                    <a16:rowId xmlns:a16="http://schemas.microsoft.com/office/drawing/2014/main" val="100825916"/>
                  </a:ext>
                </a:extLst>
              </a:tr>
              <a:tr h="492260">
                <a:tc>
                  <a:txBody>
                    <a:bodyPr/>
                    <a:lstStyle/>
                    <a:p>
                      <a:r>
                        <a:rPr lang="en-US" dirty="0"/>
                        <a:t>RMSE</a:t>
                      </a:r>
                      <a:endParaRPr lang="en-IN" dirty="0"/>
                    </a:p>
                  </a:txBody>
                  <a:tcPr/>
                </a:tc>
                <a:tc>
                  <a:txBody>
                    <a:bodyPr/>
                    <a:lstStyle/>
                    <a:p>
                      <a:r>
                        <a:rPr lang="en-US" dirty="0"/>
                        <a:t>1.407</a:t>
                      </a:r>
                      <a:endParaRPr lang="en-IN" dirty="0"/>
                    </a:p>
                  </a:txBody>
                  <a:tcPr/>
                </a:tc>
                <a:tc>
                  <a:txBody>
                    <a:bodyPr/>
                    <a:lstStyle/>
                    <a:p>
                      <a:r>
                        <a:rPr lang="en-US" dirty="0"/>
                        <a:t>1.553</a:t>
                      </a:r>
                      <a:endParaRPr lang="en-IN" dirty="0"/>
                    </a:p>
                  </a:txBody>
                  <a:tcPr/>
                </a:tc>
                <a:tc>
                  <a:txBody>
                    <a:bodyPr/>
                    <a:lstStyle/>
                    <a:p>
                      <a:r>
                        <a:rPr lang="en-US" dirty="0"/>
                        <a:t>1.361</a:t>
                      </a:r>
                      <a:endParaRPr lang="en-IN" dirty="0"/>
                    </a:p>
                  </a:txBody>
                  <a:tcPr/>
                </a:tc>
                <a:tc>
                  <a:txBody>
                    <a:bodyPr/>
                    <a:lstStyle/>
                    <a:p>
                      <a:r>
                        <a:rPr lang="en-US" dirty="0"/>
                        <a:t>0.794</a:t>
                      </a:r>
                      <a:endParaRPr lang="en-IN" dirty="0"/>
                    </a:p>
                  </a:txBody>
                  <a:tcPr/>
                </a:tc>
                <a:extLst>
                  <a:ext uri="{0D108BD9-81ED-4DB2-BD59-A6C34878D82A}">
                    <a16:rowId xmlns:a16="http://schemas.microsoft.com/office/drawing/2014/main" val="1289357312"/>
                  </a:ext>
                </a:extLst>
              </a:tr>
              <a:tr h="492260">
                <a:tc>
                  <a:txBody>
                    <a:bodyPr/>
                    <a:lstStyle/>
                    <a:p>
                      <a:r>
                        <a:rPr lang="en-US" dirty="0"/>
                        <a:t>Return</a:t>
                      </a:r>
                      <a:endParaRPr lang="en-IN" dirty="0"/>
                    </a:p>
                  </a:txBody>
                  <a:tcPr/>
                </a:tc>
                <a:tc>
                  <a:txBody>
                    <a:bodyPr/>
                    <a:lstStyle/>
                    <a:p>
                      <a:r>
                        <a:rPr lang="en-US" dirty="0"/>
                        <a:t>1.11</a:t>
                      </a:r>
                      <a:endParaRPr lang="en-IN" dirty="0"/>
                    </a:p>
                  </a:txBody>
                  <a:tcPr/>
                </a:tc>
                <a:tc>
                  <a:txBody>
                    <a:bodyPr/>
                    <a:lstStyle/>
                    <a:p>
                      <a:r>
                        <a:rPr lang="en-US" dirty="0"/>
                        <a:t>2.49</a:t>
                      </a:r>
                      <a:endParaRPr lang="en-IN" dirty="0"/>
                    </a:p>
                  </a:txBody>
                  <a:tcPr/>
                </a:tc>
                <a:tc>
                  <a:txBody>
                    <a:bodyPr/>
                    <a:lstStyle/>
                    <a:p>
                      <a:r>
                        <a:rPr lang="en-US" dirty="0"/>
                        <a:t>3.46</a:t>
                      </a:r>
                      <a:endParaRPr lang="en-IN" dirty="0"/>
                    </a:p>
                  </a:txBody>
                  <a:tcPr/>
                </a:tc>
                <a:tc>
                  <a:txBody>
                    <a:bodyPr/>
                    <a:lstStyle/>
                    <a:p>
                      <a:r>
                        <a:rPr lang="en-US" dirty="0"/>
                        <a:t>0.59</a:t>
                      </a:r>
                      <a:endParaRPr lang="en-IN" dirty="0"/>
                    </a:p>
                  </a:txBody>
                  <a:tcPr/>
                </a:tc>
                <a:extLst>
                  <a:ext uri="{0D108BD9-81ED-4DB2-BD59-A6C34878D82A}">
                    <a16:rowId xmlns:a16="http://schemas.microsoft.com/office/drawing/2014/main" val="3607791291"/>
                  </a:ext>
                </a:extLst>
              </a:tr>
            </a:tbl>
          </a:graphicData>
        </a:graphic>
      </p:graphicFrame>
      <p:sp>
        <p:nvSpPr>
          <p:cNvPr id="10" name="TextBox 9">
            <a:extLst>
              <a:ext uri="{FF2B5EF4-FFF2-40B4-BE49-F238E27FC236}">
                <a16:creationId xmlns:a16="http://schemas.microsoft.com/office/drawing/2014/main" id="{71F6B381-AE80-4296-83D5-32EE7831B0AE}"/>
              </a:ext>
            </a:extLst>
          </p:cNvPr>
          <p:cNvSpPr txBox="1"/>
          <p:nvPr/>
        </p:nvSpPr>
        <p:spPr>
          <a:xfrm>
            <a:off x="898226" y="4242062"/>
            <a:ext cx="8375775" cy="1754326"/>
          </a:xfrm>
          <a:prstGeom prst="rect">
            <a:avLst/>
          </a:prstGeom>
          <a:noFill/>
        </p:spPr>
        <p:txBody>
          <a:bodyPr wrap="square" rtlCol="0">
            <a:spAutoFit/>
          </a:bodyPr>
          <a:lstStyle/>
          <a:p>
            <a:pPr marL="285750" indent="-285750" algn="l">
              <a:buFont typeface="Arial" panose="020B0604020202020204" pitchFamily="34" charset="0"/>
              <a:buChar char="•"/>
            </a:pPr>
            <a:r>
              <a:rPr lang="en-US" sz="1800" b="0" i="0" u="none" strike="noStrike" baseline="0" dirty="0">
                <a:latin typeface="CMR12"/>
              </a:rPr>
              <a:t>NCO method shows least variation of results with respect to the CLA allocations,</a:t>
            </a:r>
          </a:p>
          <a:p>
            <a:pPr algn="l"/>
            <a:r>
              <a:rPr lang="en-US" sz="1800" b="0" i="0" u="none" strike="noStrike" baseline="0" dirty="0">
                <a:latin typeface="CMR12"/>
              </a:rPr>
              <a:t>      both in terms of RMSE of the allocations and the difference between returns.</a:t>
            </a:r>
          </a:p>
          <a:p>
            <a:pPr marL="285750" indent="-285750" algn="l">
              <a:buFont typeface="Arial" panose="020B0604020202020204" pitchFamily="34" charset="0"/>
              <a:buChar char="•"/>
            </a:pPr>
            <a:r>
              <a:rPr lang="en-US" sz="1800" b="0" i="0" u="none" strike="noStrike" baseline="0" dirty="0">
                <a:latin typeface="CMR12"/>
              </a:rPr>
              <a:t>HRP algorithm shows favorable results for RMSE while has relatively poor scores with respect to the difference in returns</a:t>
            </a:r>
          </a:p>
          <a:p>
            <a:pPr marL="285750" indent="-285750" algn="l">
              <a:buFont typeface="Arial" panose="020B0604020202020204" pitchFamily="34" charset="0"/>
              <a:buChar char="•"/>
            </a:pPr>
            <a:r>
              <a:rPr lang="en-US" sz="1800" b="0" i="0" u="none" strike="noStrike" baseline="0" dirty="0">
                <a:latin typeface="CMR12"/>
              </a:rPr>
              <a:t>The CLA method shows higher variation as compared to the inbuilt quadratic programming </a:t>
            </a:r>
            <a:r>
              <a:rPr lang="en-IN" sz="1800" b="0" i="0" u="none" strike="noStrike" baseline="0" dirty="0">
                <a:latin typeface="CMR12"/>
              </a:rPr>
              <a:t>solver, indicating  the presence of input errors</a:t>
            </a:r>
            <a:endParaRPr lang="en-IN" dirty="0"/>
          </a:p>
        </p:txBody>
      </p:sp>
    </p:spTree>
    <p:extLst>
      <p:ext uri="{BB962C8B-B14F-4D97-AF65-F5344CB8AC3E}">
        <p14:creationId xmlns:p14="http://schemas.microsoft.com/office/powerpoint/2010/main" val="1992292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76C126-1DA0-4CDD-A9E3-F40A873ADE62}"/>
              </a:ext>
            </a:extLst>
          </p:cNvPr>
          <p:cNvSpPr>
            <a:spLocks noGrp="1"/>
          </p:cNvSpPr>
          <p:nvPr>
            <p:ph idx="1"/>
          </p:nvPr>
        </p:nvSpPr>
        <p:spPr>
          <a:xfrm>
            <a:off x="677334" y="1517715"/>
            <a:ext cx="8702336" cy="4523647"/>
          </a:xfrm>
        </p:spPr>
        <p:txBody>
          <a:bodyPr/>
          <a:lstStyle/>
          <a:p>
            <a:pPr algn="l"/>
            <a:r>
              <a:rPr lang="en-US" sz="1800" b="0" i="0" u="none" strike="noStrike" baseline="0" dirty="0">
                <a:latin typeface="Arial" panose="020B0604020202020204" pitchFamily="34" charset="0"/>
                <a:cs typeface="Arial" panose="020B0604020202020204" pitchFamily="34" charset="0"/>
              </a:rPr>
              <a:t>We have obtained the mean and covariance inputs from the monthly return data, from 2000-2020, of 50 assets listed in the SP100 index in varying sectors</a:t>
            </a:r>
            <a:r>
              <a:rPr lang="en-US" dirty="0">
                <a:latin typeface="Arial" panose="020B0604020202020204" pitchFamily="34" charset="0"/>
                <a:cs typeface="Arial" panose="020B0604020202020204" pitchFamily="34" charset="0"/>
              </a:rPr>
              <a:t>.</a:t>
            </a:r>
          </a:p>
          <a:p>
            <a:pPr algn="l"/>
            <a:endParaRPr lang="en-IN" sz="1800" b="0" i="0" u="none" strike="noStrike" baseline="0" dirty="0">
              <a:latin typeface="Arial" panose="020B0604020202020204" pitchFamily="34" charset="0"/>
              <a:cs typeface="Arial" panose="020B0604020202020204" pitchFamily="34" charset="0"/>
            </a:endParaRPr>
          </a:p>
          <a:p>
            <a:pPr algn="l"/>
            <a:r>
              <a:rPr lang="en-IN" sz="1800" b="0" i="0" u="none" strike="noStrike" baseline="0" dirty="0">
                <a:latin typeface="Arial" panose="020B0604020202020204" pitchFamily="34" charset="0"/>
                <a:cs typeface="Arial" panose="020B0604020202020204" pitchFamily="34" charset="0"/>
              </a:rPr>
              <a:t>The </a:t>
            </a:r>
            <a:r>
              <a:rPr lang="en-US" sz="1800" b="0" i="0" u="none" strike="noStrike" baseline="0" dirty="0">
                <a:latin typeface="Arial" panose="020B0604020202020204" pitchFamily="34" charset="0"/>
                <a:cs typeface="Arial" panose="020B0604020202020204" pitchFamily="34" charset="0"/>
              </a:rPr>
              <a:t>inputs are obtained for each month between 2005-2020 from the return data to the prior </a:t>
            </a:r>
            <a:r>
              <a:rPr lang="en-IN" sz="1800" b="0" i="0" u="none" strike="noStrike" baseline="0" dirty="0">
                <a:latin typeface="Arial" panose="020B0604020202020204" pitchFamily="34" charset="0"/>
                <a:cs typeface="Arial" panose="020B0604020202020204" pitchFamily="34" charset="0"/>
              </a:rPr>
              <a:t>5 years.</a:t>
            </a:r>
          </a:p>
          <a:p>
            <a:pPr algn="l"/>
            <a:endParaRPr lang="en-IN" dirty="0">
              <a:latin typeface="Arial" panose="020B0604020202020204" pitchFamily="34" charset="0"/>
              <a:cs typeface="Arial" panose="020B0604020202020204" pitchFamily="34" charset="0"/>
            </a:endParaRPr>
          </a:p>
          <a:p>
            <a:pPr algn="l"/>
            <a:r>
              <a:rPr lang="en-IN" dirty="0">
                <a:latin typeface="Arial" panose="020B0604020202020204" pitchFamily="34" charset="0"/>
                <a:cs typeface="Arial" panose="020B0604020202020204" pitchFamily="34" charset="0"/>
              </a:rPr>
              <a:t>We obtain the monthly allocations between this period and compare the performance of these portfolios in the overall duration</a:t>
            </a:r>
          </a:p>
          <a:p>
            <a:pPr algn="l"/>
            <a:endParaRPr lang="en-IN" dirty="0">
              <a:latin typeface="Arial" panose="020B0604020202020204" pitchFamily="34" charset="0"/>
              <a:cs typeface="Arial" panose="020B0604020202020204" pitchFamily="34" charset="0"/>
            </a:endParaRPr>
          </a:p>
          <a:p>
            <a:pPr algn="l"/>
            <a:r>
              <a:rPr lang="en-IN" dirty="0">
                <a:latin typeface="Arial" panose="020B0604020202020204" pitchFamily="34" charset="0"/>
                <a:cs typeface="Arial" panose="020B0604020202020204" pitchFamily="34" charset="0"/>
              </a:rPr>
              <a:t>We compare the portfolios based on Return, Standard Deviation as volatility, Portfolio Sharpe Ratio and a measure of Portfolio Turnover. </a:t>
            </a:r>
          </a:p>
        </p:txBody>
      </p:sp>
      <p:sp>
        <p:nvSpPr>
          <p:cNvPr id="4" name="Title 1">
            <a:extLst>
              <a:ext uri="{FF2B5EF4-FFF2-40B4-BE49-F238E27FC236}">
                <a16:creationId xmlns:a16="http://schemas.microsoft.com/office/drawing/2014/main" id="{63D6552F-3AE4-48DD-81C1-83AAFE6086F3}"/>
              </a:ext>
            </a:extLst>
          </p:cNvPr>
          <p:cNvSpPr>
            <a:spLocks noGrp="1"/>
          </p:cNvSpPr>
          <p:nvPr>
            <p:ph type="title"/>
          </p:nvPr>
        </p:nvSpPr>
        <p:spPr>
          <a:xfrm>
            <a:off x="677863" y="609600"/>
            <a:ext cx="8596139" cy="766713"/>
          </a:xfrm>
        </p:spPr>
        <p:txBody>
          <a:bodyPr>
            <a:normAutofit fontScale="90000"/>
          </a:bodyPr>
          <a:lstStyle/>
          <a:p>
            <a:r>
              <a:rPr lang="en-US" sz="2800" b="0" i="0" u="none" strike="noStrike" baseline="0" dirty="0">
                <a:latin typeface="Arial" panose="020B0604020202020204" pitchFamily="34" charset="0"/>
                <a:cs typeface="Arial" panose="020B0604020202020204" pitchFamily="34" charset="0"/>
              </a:rPr>
              <a:t>Test 3: Comparison of Optimization Techniques on Actual</a:t>
            </a:r>
            <a:r>
              <a:rPr lang="en-IN" sz="2800" b="0" i="0" u="none" strike="noStrike" baseline="0" dirty="0">
                <a:latin typeface="Arial" panose="020B0604020202020204" pitchFamily="34" charset="0"/>
                <a:cs typeface="Arial" panose="020B0604020202020204" pitchFamily="34" charset="0"/>
              </a:rPr>
              <a:t> Data</a:t>
            </a: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30464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3D29A-C417-4AF2-95BD-7B6D55AA7977}"/>
              </a:ext>
            </a:extLst>
          </p:cNvPr>
          <p:cNvSpPr>
            <a:spLocks noGrp="1"/>
          </p:cNvSpPr>
          <p:nvPr>
            <p:ph type="title"/>
          </p:nvPr>
        </p:nvSpPr>
        <p:spPr>
          <a:xfrm>
            <a:off x="0" y="588169"/>
            <a:ext cx="10137184" cy="757288"/>
          </a:xfrm>
        </p:spPr>
        <p:txBody>
          <a:bodyPr>
            <a:normAutofit/>
          </a:bodyPr>
          <a:lstStyle/>
          <a:p>
            <a:r>
              <a:rPr lang="en-US" sz="2800" b="0" i="0" u="none" strike="noStrike" baseline="0" dirty="0">
                <a:latin typeface="Arial" panose="020B0604020202020204" pitchFamily="34" charset="0"/>
                <a:cs typeface="Arial" panose="020B0604020202020204" pitchFamily="34" charset="0"/>
              </a:rPr>
              <a:t>Test 3: Comparison of Optimization Techniques on Actual</a:t>
            </a:r>
            <a:r>
              <a:rPr lang="en-IN" sz="2800" b="0" i="0" u="none" strike="noStrike" baseline="0" dirty="0">
                <a:latin typeface="Arial" panose="020B0604020202020204" pitchFamily="34" charset="0"/>
                <a:cs typeface="Arial" panose="020B0604020202020204" pitchFamily="34" charset="0"/>
              </a:rPr>
              <a:t> Data</a:t>
            </a:r>
            <a:endParaRPr lang="en-IN" sz="28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1F6B381-AE80-4296-83D5-32EE7831B0AE}"/>
              </a:ext>
            </a:extLst>
          </p:cNvPr>
          <p:cNvSpPr txBox="1"/>
          <p:nvPr/>
        </p:nvSpPr>
        <p:spPr>
          <a:xfrm>
            <a:off x="898226" y="4242062"/>
            <a:ext cx="8375775" cy="2031325"/>
          </a:xfrm>
          <a:prstGeom prst="rect">
            <a:avLst/>
          </a:prstGeom>
          <a:noFill/>
        </p:spPr>
        <p:txBody>
          <a:bodyPr wrap="square" rtlCol="0">
            <a:spAutoFit/>
          </a:bodyPr>
          <a:lstStyle/>
          <a:p>
            <a:pPr marL="285750" indent="-285750" algn="l">
              <a:buFont typeface="Arial" panose="020B0604020202020204" pitchFamily="34" charset="0"/>
              <a:buChar char="•"/>
            </a:pPr>
            <a:r>
              <a:rPr lang="en-US" dirty="0">
                <a:latin typeface="Arial" panose="020B0604020202020204" pitchFamily="34" charset="0"/>
                <a:cs typeface="Arial" panose="020B0604020202020204" pitchFamily="34" charset="0"/>
              </a:rPr>
              <a:t>The HRP algorithm shows promise in terms of return, followed by NCO</a:t>
            </a:r>
          </a:p>
          <a:p>
            <a:pPr marL="285750" indent="-285750" algn="l">
              <a:buFont typeface="Arial" panose="020B0604020202020204" pitchFamily="34" charset="0"/>
              <a:buChar char="•"/>
            </a:pPr>
            <a:r>
              <a:rPr lang="en-US" dirty="0">
                <a:latin typeface="Arial" panose="020B0604020202020204" pitchFamily="34" charset="0"/>
                <a:cs typeface="Arial" panose="020B0604020202020204" pitchFamily="34" charset="0"/>
              </a:rPr>
              <a:t>Yet when comparing volatilities, we see that the base method and numerical solver perform better</a:t>
            </a:r>
          </a:p>
          <a:p>
            <a:pPr marL="285750" indent="-285750" algn="l">
              <a:buFont typeface="Arial" panose="020B0604020202020204" pitchFamily="34" charset="0"/>
              <a:buChar char="•"/>
            </a:pPr>
            <a:r>
              <a:rPr lang="en-US" dirty="0">
                <a:latin typeface="Arial" panose="020B0604020202020204" pitchFamily="34" charset="0"/>
                <a:cs typeface="Arial" panose="020B0604020202020204" pitchFamily="34" charset="0"/>
              </a:rPr>
              <a:t>Because of this, a similar </a:t>
            </a:r>
            <a:r>
              <a:rPr lang="en-US" dirty="0" err="1">
                <a:latin typeface="Arial" panose="020B0604020202020204" pitchFamily="34" charset="0"/>
                <a:cs typeface="Arial" panose="020B0604020202020204" pitchFamily="34" charset="0"/>
              </a:rPr>
              <a:t>behaviour</a:t>
            </a:r>
            <a:r>
              <a:rPr lang="en-US" dirty="0">
                <a:latin typeface="Arial" panose="020B0604020202020204" pitchFamily="34" charset="0"/>
                <a:cs typeface="Arial" panose="020B0604020202020204" pitchFamily="34" charset="0"/>
              </a:rPr>
              <a:t> is witnessed when comparing Sharpe Ratio</a:t>
            </a:r>
          </a:p>
          <a:p>
            <a:pPr marL="285750" indent="-285750" algn="l">
              <a:buFont typeface="Arial" panose="020B0604020202020204" pitchFamily="34" charset="0"/>
              <a:buChar char="•"/>
            </a:pPr>
            <a:r>
              <a:rPr lang="en-US" sz="1800" b="0" i="0" u="none" strike="noStrike" baseline="0" dirty="0">
                <a:latin typeface="Arial" panose="020B0604020202020204" pitchFamily="34" charset="0"/>
                <a:cs typeface="Arial" panose="020B0604020202020204" pitchFamily="34" charset="0"/>
              </a:rPr>
              <a:t>When comparing the Turnover ratios, we see that there is higher turnover for the NCO and HRP portfolio allocations.</a:t>
            </a:r>
            <a:endParaRPr lang="en-IN" dirty="0">
              <a:latin typeface="Arial" panose="020B0604020202020204" pitchFamily="34" charset="0"/>
              <a:cs typeface="Arial" panose="020B0604020202020204" pitchFamily="34" charset="0"/>
            </a:endParaRPr>
          </a:p>
        </p:txBody>
      </p:sp>
      <p:graphicFrame>
        <p:nvGraphicFramePr>
          <p:cNvPr id="4" name="Table 4">
            <a:extLst>
              <a:ext uri="{FF2B5EF4-FFF2-40B4-BE49-F238E27FC236}">
                <a16:creationId xmlns:a16="http://schemas.microsoft.com/office/drawing/2014/main" id="{88E3D8C2-FA45-487C-822D-E77827E63EF9}"/>
              </a:ext>
            </a:extLst>
          </p:cNvPr>
          <p:cNvGraphicFramePr>
            <a:graphicFrameLocks noGrp="1"/>
          </p:cNvGraphicFramePr>
          <p:nvPr>
            <p:extLst>
              <p:ext uri="{D42A27DB-BD31-4B8C-83A1-F6EECF244321}">
                <p14:modId xmlns:p14="http://schemas.microsoft.com/office/powerpoint/2010/main" val="4229999689"/>
              </p:ext>
            </p:extLst>
          </p:nvPr>
        </p:nvGraphicFramePr>
        <p:xfrm>
          <a:off x="433633" y="1451728"/>
          <a:ext cx="8592595" cy="2126669"/>
        </p:xfrm>
        <a:graphic>
          <a:graphicData uri="http://schemas.openxmlformats.org/drawingml/2006/table">
            <a:tbl>
              <a:tblPr firstRow="1" bandRow="1">
                <a:tableStyleId>{93296810-A885-4BE3-A3E7-6D5BEEA58F35}</a:tableStyleId>
              </a:tblPr>
              <a:tblGrid>
                <a:gridCol w="1718519">
                  <a:extLst>
                    <a:ext uri="{9D8B030D-6E8A-4147-A177-3AD203B41FA5}">
                      <a16:colId xmlns:a16="http://schemas.microsoft.com/office/drawing/2014/main" val="2581686681"/>
                    </a:ext>
                  </a:extLst>
                </a:gridCol>
                <a:gridCol w="1718519">
                  <a:extLst>
                    <a:ext uri="{9D8B030D-6E8A-4147-A177-3AD203B41FA5}">
                      <a16:colId xmlns:a16="http://schemas.microsoft.com/office/drawing/2014/main" val="322784802"/>
                    </a:ext>
                  </a:extLst>
                </a:gridCol>
                <a:gridCol w="1718519">
                  <a:extLst>
                    <a:ext uri="{9D8B030D-6E8A-4147-A177-3AD203B41FA5}">
                      <a16:colId xmlns:a16="http://schemas.microsoft.com/office/drawing/2014/main" val="721256580"/>
                    </a:ext>
                  </a:extLst>
                </a:gridCol>
                <a:gridCol w="1718519">
                  <a:extLst>
                    <a:ext uri="{9D8B030D-6E8A-4147-A177-3AD203B41FA5}">
                      <a16:colId xmlns:a16="http://schemas.microsoft.com/office/drawing/2014/main" val="3537632317"/>
                    </a:ext>
                  </a:extLst>
                </a:gridCol>
                <a:gridCol w="1718519">
                  <a:extLst>
                    <a:ext uri="{9D8B030D-6E8A-4147-A177-3AD203B41FA5}">
                      <a16:colId xmlns:a16="http://schemas.microsoft.com/office/drawing/2014/main" val="3517543121"/>
                    </a:ext>
                  </a:extLst>
                </a:gridCol>
              </a:tblGrid>
              <a:tr h="371404">
                <a:tc>
                  <a:txBody>
                    <a:bodyPr/>
                    <a:lstStyle/>
                    <a:p>
                      <a:endParaRPr lang="en-IN"/>
                    </a:p>
                  </a:txBody>
                  <a:tcPr/>
                </a:tc>
                <a:tc>
                  <a:txBody>
                    <a:bodyPr/>
                    <a:lstStyle/>
                    <a:p>
                      <a:r>
                        <a:rPr lang="en-US" dirty="0"/>
                        <a:t>MVO</a:t>
                      </a:r>
                      <a:endParaRPr lang="en-IN" dirty="0"/>
                    </a:p>
                  </a:txBody>
                  <a:tcPr/>
                </a:tc>
                <a:tc>
                  <a:txBody>
                    <a:bodyPr/>
                    <a:lstStyle/>
                    <a:p>
                      <a:r>
                        <a:rPr lang="en-US" dirty="0"/>
                        <a:t>CLA</a:t>
                      </a:r>
                      <a:endParaRPr lang="en-IN" dirty="0"/>
                    </a:p>
                  </a:txBody>
                  <a:tcPr/>
                </a:tc>
                <a:tc>
                  <a:txBody>
                    <a:bodyPr/>
                    <a:lstStyle/>
                    <a:p>
                      <a:r>
                        <a:rPr lang="en-US" dirty="0"/>
                        <a:t>HRP</a:t>
                      </a:r>
                      <a:endParaRPr lang="en-IN" dirty="0"/>
                    </a:p>
                  </a:txBody>
                  <a:tcPr/>
                </a:tc>
                <a:tc>
                  <a:txBody>
                    <a:bodyPr/>
                    <a:lstStyle/>
                    <a:p>
                      <a:r>
                        <a:rPr lang="en-US" dirty="0"/>
                        <a:t>NCO</a:t>
                      </a:r>
                      <a:endParaRPr lang="en-IN" dirty="0"/>
                    </a:p>
                  </a:txBody>
                  <a:tcPr/>
                </a:tc>
                <a:extLst>
                  <a:ext uri="{0D108BD9-81ED-4DB2-BD59-A6C34878D82A}">
                    <a16:rowId xmlns:a16="http://schemas.microsoft.com/office/drawing/2014/main" val="1605418648"/>
                  </a:ext>
                </a:extLst>
              </a:tr>
              <a:tr h="371404">
                <a:tc>
                  <a:txBody>
                    <a:bodyPr/>
                    <a:lstStyle/>
                    <a:p>
                      <a:r>
                        <a:rPr lang="en-US" dirty="0"/>
                        <a:t>Return</a:t>
                      </a:r>
                      <a:endParaRPr lang="en-IN" dirty="0"/>
                    </a:p>
                  </a:txBody>
                  <a:tcPr/>
                </a:tc>
                <a:tc>
                  <a:txBody>
                    <a:bodyPr/>
                    <a:lstStyle/>
                    <a:p>
                      <a:r>
                        <a:rPr lang="en-US" dirty="0"/>
                        <a:t>0.9936e-02</a:t>
                      </a:r>
                      <a:endParaRPr lang="en-IN" dirty="0"/>
                    </a:p>
                  </a:txBody>
                  <a:tcPr/>
                </a:tc>
                <a:tc>
                  <a:txBody>
                    <a:bodyPr/>
                    <a:lstStyle/>
                    <a:p>
                      <a:r>
                        <a:rPr lang="en-US" dirty="0"/>
                        <a:t>1.0189e-02</a:t>
                      </a:r>
                      <a:endParaRPr lang="en-IN" dirty="0"/>
                    </a:p>
                  </a:txBody>
                  <a:tcPr/>
                </a:tc>
                <a:tc>
                  <a:txBody>
                    <a:bodyPr/>
                    <a:lstStyle/>
                    <a:p>
                      <a:r>
                        <a:rPr lang="en-US" dirty="0"/>
                        <a:t>1.2195e-02</a:t>
                      </a:r>
                      <a:endParaRPr lang="en-IN" dirty="0"/>
                    </a:p>
                  </a:txBody>
                  <a:tcPr/>
                </a:tc>
                <a:tc>
                  <a:txBody>
                    <a:bodyPr/>
                    <a:lstStyle/>
                    <a:p>
                      <a:r>
                        <a:rPr lang="en-US" dirty="0"/>
                        <a:t>1.1210e-02</a:t>
                      </a:r>
                      <a:endParaRPr lang="en-IN" dirty="0"/>
                    </a:p>
                  </a:txBody>
                  <a:tcPr/>
                </a:tc>
                <a:extLst>
                  <a:ext uri="{0D108BD9-81ED-4DB2-BD59-A6C34878D82A}">
                    <a16:rowId xmlns:a16="http://schemas.microsoft.com/office/drawing/2014/main" val="2952552219"/>
                  </a:ext>
                </a:extLst>
              </a:tr>
              <a:tr h="371404">
                <a:tc>
                  <a:txBody>
                    <a:bodyPr/>
                    <a:lstStyle/>
                    <a:p>
                      <a:r>
                        <a:rPr lang="en-US" dirty="0"/>
                        <a:t>Stand. Dev.</a:t>
                      </a:r>
                      <a:endParaRPr lang="en-IN" dirty="0"/>
                    </a:p>
                  </a:txBody>
                  <a:tcPr/>
                </a:tc>
                <a:tc>
                  <a:txBody>
                    <a:bodyPr/>
                    <a:lstStyle/>
                    <a:p>
                      <a:r>
                        <a:rPr lang="en-US" dirty="0"/>
                        <a:t>2.685e-03</a:t>
                      </a:r>
                      <a:endParaRPr lang="en-IN" dirty="0"/>
                    </a:p>
                  </a:txBody>
                  <a:tcPr/>
                </a:tc>
                <a:tc>
                  <a:txBody>
                    <a:bodyPr/>
                    <a:lstStyle/>
                    <a:p>
                      <a:r>
                        <a:rPr lang="en-US" dirty="0"/>
                        <a:t>2.717e-03</a:t>
                      </a:r>
                      <a:endParaRPr lang="en-IN" dirty="0"/>
                    </a:p>
                  </a:txBody>
                  <a:tcPr/>
                </a:tc>
                <a:tc>
                  <a:txBody>
                    <a:bodyPr/>
                    <a:lstStyle/>
                    <a:p>
                      <a:r>
                        <a:rPr lang="en-US" dirty="0"/>
                        <a:t>4.460e-03</a:t>
                      </a:r>
                      <a:endParaRPr lang="en-IN" dirty="0"/>
                    </a:p>
                  </a:txBody>
                  <a:tcPr/>
                </a:tc>
                <a:tc>
                  <a:txBody>
                    <a:bodyPr/>
                    <a:lstStyle/>
                    <a:p>
                      <a:r>
                        <a:rPr lang="en-US" dirty="0"/>
                        <a:t>5.228e-03</a:t>
                      </a:r>
                      <a:endParaRPr lang="en-IN" dirty="0"/>
                    </a:p>
                  </a:txBody>
                  <a:tcPr/>
                </a:tc>
                <a:extLst>
                  <a:ext uri="{0D108BD9-81ED-4DB2-BD59-A6C34878D82A}">
                    <a16:rowId xmlns:a16="http://schemas.microsoft.com/office/drawing/2014/main" val="3009788085"/>
                  </a:ext>
                </a:extLst>
              </a:tr>
              <a:tr h="371404">
                <a:tc>
                  <a:txBody>
                    <a:bodyPr/>
                    <a:lstStyle/>
                    <a:p>
                      <a:r>
                        <a:rPr lang="en-US" dirty="0"/>
                        <a:t>Sharpe Ratio</a:t>
                      </a:r>
                      <a:endParaRPr lang="en-IN" dirty="0"/>
                    </a:p>
                  </a:txBody>
                  <a:tcPr/>
                </a:tc>
                <a:tc>
                  <a:txBody>
                    <a:bodyPr/>
                    <a:lstStyle/>
                    <a:p>
                      <a:r>
                        <a:rPr lang="en-US" dirty="0"/>
                        <a:t>3.7</a:t>
                      </a:r>
                      <a:endParaRPr lang="en-IN" dirty="0"/>
                    </a:p>
                  </a:txBody>
                  <a:tcPr/>
                </a:tc>
                <a:tc>
                  <a:txBody>
                    <a:bodyPr/>
                    <a:lstStyle/>
                    <a:p>
                      <a:r>
                        <a:rPr lang="en-US" dirty="0"/>
                        <a:t>3.75</a:t>
                      </a:r>
                      <a:endParaRPr lang="en-IN" dirty="0"/>
                    </a:p>
                  </a:txBody>
                  <a:tcPr/>
                </a:tc>
                <a:tc>
                  <a:txBody>
                    <a:bodyPr/>
                    <a:lstStyle/>
                    <a:p>
                      <a:r>
                        <a:rPr lang="en-US" dirty="0"/>
                        <a:t>2.73</a:t>
                      </a:r>
                      <a:endParaRPr lang="en-IN" dirty="0"/>
                    </a:p>
                  </a:txBody>
                  <a:tcPr/>
                </a:tc>
                <a:tc>
                  <a:txBody>
                    <a:bodyPr/>
                    <a:lstStyle/>
                    <a:p>
                      <a:r>
                        <a:rPr lang="en-US" dirty="0"/>
                        <a:t>2.14</a:t>
                      </a:r>
                      <a:endParaRPr lang="en-IN" dirty="0"/>
                    </a:p>
                  </a:txBody>
                  <a:tcPr/>
                </a:tc>
                <a:extLst>
                  <a:ext uri="{0D108BD9-81ED-4DB2-BD59-A6C34878D82A}">
                    <a16:rowId xmlns:a16="http://schemas.microsoft.com/office/drawing/2014/main" val="1291976408"/>
                  </a:ext>
                </a:extLst>
              </a:tr>
              <a:tr h="641053">
                <a:tc>
                  <a:txBody>
                    <a:bodyPr/>
                    <a:lstStyle/>
                    <a:p>
                      <a:r>
                        <a:rPr lang="en-US" dirty="0"/>
                        <a:t>Turnover Ratio</a:t>
                      </a:r>
                      <a:endParaRPr lang="en-IN" dirty="0"/>
                    </a:p>
                  </a:txBody>
                  <a:tcPr/>
                </a:tc>
                <a:tc>
                  <a:txBody>
                    <a:bodyPr/>
                    <a:lstStyle/>
                    <a:p>
                      <a:r>
                        <a:rPr lang="en-US" dirty="0"/>
                        <a:t>0.152</a:t>
                      </a:r>
                      <a:endParaRPr lang="en-IN" dirty="0"/>
                    </a:p>
                  </a:txBody>
                  <a:tcPr/>
                </a:tc>
                <a:tc>
                  <a:txBody>
                    <a:bodyPr/>
                    <a:lstStyle/>
                    <a:p>
                      <a:r>
                        <a:rPr lang="en-US" dirty="0"/>
                        <a:t>0.17</a:t>
                      </a:r>
                      <a:endParaRPr lang="en-IN" dirty="0"/>
                    </a:p>
                  </a:txBody>
                  <a:tcPr/>
                </a:tc>
                <a:tc>
                  <a:txBody>
                    <a:bodyPr/>
                    <a:lstStyle/>
                    <a:p>
                      <a:r>
                        <a:rPr lang="en-US" dirty="0"/>
                        <a:t>0.52</a:t>
                      </a:r>
                      <a:endParaRPr lang="en-IN" dirty="0"/>
                    </a:p>
                  </a:txBody>
                  <a:tcPr/>
                </a:tc>
                <a:tc>
                  <a:txBody>
                    <a:bodyPr/>
                    <a:lstStyle/>
                    <a:p>
                      <a:r>
                        <a:rPr lang="en-US" dirty="0"/>
                        <a:t>1.18</a:t>
                      </a:r>
                      <a:endParaRPr lang="en-IN" dirty="0"/>
                    </a:p>
                  </a:txBody>
                  <a:tcPr/>
                </a:tc>
                <a:extLst>
                  <a:ext uri="{0D108BD9-81ED-4DB2-BD59-A6C34878D82A}">
                    <a16:rowId xmlns:a16="http://schemas.microsoft.com/office/drawing/2014/main" val="3238911582"/>
                  </a:ext>
                </a:extLst>
              </a:tr>
            </a:tbl>
          </a:graphicData>
        </a:graphic>
      </p:graphicFrame>
    </p:spTree>
    <p:extLst>
      <p:ext uri="{BB962C8B-B14F-4D97-AF65-F5344CB8AC3E}">
        <p14:creationId xmlns:p14="http://schemas.microsoft.com/office/powerpoint/2010/main" val="1378167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70BE6-6758-4B4A-9A8F-171EF424974F}"/>
              </a:ext>
            </a:extLst>
          </p:cNvPr>
          <p:cNvSpPr>
            <a:spLocks noGrp="1"/>
          </p:cNvSpPr>
          <p:nvPr>
            <p:ph type="title"/>
          </p:nvPr>
        </p:nvSpPr>
        <p:spPr>
          <a:xfrm>
            <a:off x="705615" y="2900313"/>
            <a:ext cx="8596668" cy="1320800"/>
          </a:xfrm>
        </p:spPr>
        <p:txBody>
          <a:bodyPr/>
          <a:lstStyle/>
          <a:p>
            <a:r>
              <a:rPr lang="en-US" dirty="0"/>
              <a:t>Conclusion</a:t>
            </a:r>
            <a:endParaRPr lang="en-IN" dirty="0"/>
          </a:p>
        </p:txBody>
      </p:sp>
    </p:spTree>
    <p:extLst>
      <p:ext uri="{BB962C8B-B14F-4D97-AF65-F5344CB8AC3E}">
        <p14:creationId xmlns:p14="http://schemas.microsoft.com/office/powerpoint/2010/main" val="180137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229180-4135-48B4-8303-6B574268F9C2}"/>
              </a:ext>
            </a:extLst>
          </p:cNvPr>
          <p:cNvSpPr>
            <a:spLocks noGrp="1"/>
          </p:cNvSpPr>
          <p:nvPr>
            <p:ph idx="1"/>
          </p:nvPr>
        </p:nvSpPr>
        <p:spPr>
          <a:xfrm>
            <a:off x="443060" y="725865"/>
            <a:ext cx="8830942" cy="5315498"/>
          </a:xfrm>
        </p:spPr>
        <p:txBody>
          <a:bodyPr/>
          <a:lstStyle/>
          <a:p>
            <a:endParaRPr lang="en-US" dirty="0"/>
          </a:p>
          <a:p>
            <a:r>
              <a:rPr lang="en-US" dirty="0"/>
              <a:t>We can observe that although the methods worked well on simulated data which represents a stylized version of the S&amp;P100, they do not perform as well when presented in the actual dataset</a:t>
            </a:r>
          </a:p>
          <a:p>
            <a:endParaRPr lang="en-US" dirty="0"/>
          </a:p>
          <a:p>
            <a:r>
              <a:rPr lang="en-US" dirty="0"/>
              <a:t>Part of the reason for this could be attributed to the power of the clustering algorithm. Generally, it is useful to remove the market related principal component in order to have the clustering function to perform well.</a:t>
            </a:r>
          </a:p>
          <a:p>
            <a:endParaRPr lang="en-US" dirty="0"/>
          </a:p>
          <a:p>
            <a:r>
              <a:rPr lang="en-US" dirty="0"/>
              <a:t>In short, further preprocessing of the data is required, without which, these methods may not perform as expected.</a:t>
            </a:r>
          </a:p>
          <a:p>
            <a:endParaRPr lang="en-IN" dirty="0"/>
          </a:p>
        </p:txBody>
      </p:sp>
    </p:spTree>
    <p:extLst>
      <p:ext uri="{BB962C8B-B14F-4D97-AF65-F5344CB8AC3E}">
        <p14:creationId xmlns:p14="http://schemas.microsoft.com/office/powerpoint/2010/main" val="3854957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BC634-6445-46DE-99B7-39D9DA434EBA}"/>
              </a:ext>
            </a:extLst>
          </p:cNvPr>
          <p:cNvSpPr>
            <a:spLocks noGrp="1"/>
          </p:cNvSpPr>
          <p:nvPr>
            <p:ph type="title"/>
          </p:nvPr>
        </p:nvSpPr>
        <p:spPr>
          <a:xfrm>
            <a:off x="865870" y="2768600"/>
            <a:ext cx="8596668" cy="1320800"/>
          </a:xfrm>
        </p:spPr>
        <p:txBody>
          <a:bodyPr/>
          <a:lstStyle/>
          <a:p>
            <a:r>
              <a:rPr lang="en-US" dirty="0"/>
              <a:t>The End</a:t>
            </a:r>
            <a:endParaRPr lang="en-IN" dirty="0"/>
          </a:p>
        </p:txBody>
      </p:sp>
    </p:spTree>
    <p:extLst>
      <p:ext uri="{BB962C8B-B14F-4D97-AF65-F5344CB8AC3E}">
        <p14:creationId xmlns:p14="http://schemas.microsoft.com/office/powerpoint/2010/main" val="313203408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916</TotalTime>
  <Words>2285</Words>
  <Application>Microsoft Office PowerPoint</Application>
  <PresentationFormat>Widescreen</PresentationFormat>
  <Paragraphs>243</Paragraphs>
  <Slides>27</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4" baseType="lpstr">
      <vt:lpstr>Arial</vt:lpstr>
      <vt:lpstr>CMBX12</vt:lpstr>
      <vt:lpstr>CMR12</vt:lpstr>
      <vt:lpstr>Trebuchet MS</vt:lpstr>
      <vt:lpstr>Wingdings 3</vt:lpstr>
      <vt:lpstr>Facet</vt:lpstr>
      <vt:lpstr>MathType 7.0 Equation</vt:lpstr>
      <vt:lpstr>A Study on  Robust Quantitative Techniques for Capital Allocation</vt:lpstr>
      <vt:lpstr>Introduction</vt:lpstr>
      <vt:lpstr>PowerPoint Presentation</vt:lpstr>
      <vt:lpstr>Problem Statement</vt:lpstr>
      <vt:lpstr>Instability Due to Noise</vt:lpstr>
      <vt:lpstr>Marcenko-Pastur Theorem</vt:lpstr>
      <vt:lpstr>Instability Due to Signal</vt:lpstr>
      <vt:lpstr>PowerPoint Presentation</vt:lpstr>
      <vt:lpstr>Methods to control for  Noise related Instabilities</vt:lpstr>
      <vt:lpstr>Linear Shrinkage Methods</vt:lpstr>
      <vt:lpstr>Eigen Value Clipping Method</vt:lpstr>
      <vt:lpstr>Targeted Shrinkage Method</vt:lpstr>
      <vt:lpstr>Methods to control for  Structure related Instabilities</vt:lpstr>
      <vt:lpstr>Critical Line Algorithm (CLA)</vt:lpstr>
      <vt:lpstr>Hierarchical Risk Parity (HRP)</vt:lpstr>
      <vt:lpstr>Nested Clustered Optimization (NCO)</vt:lpstr>
      <vt:lpstr>PowerPoint Presentation</vt:lpstr>
      <vt:lpstr>Numerical Experiments</vt:lpstr>
      <vt:lpstr>Test 1: Comparison of Denoising techniques </vt:lpstr>
      <vt:lpstr>Test 1: Comparison of Denoising techniques </vt:lpstr>
      <vt:lpstr>Test 2: Comparison of Optimization Techniques on Simulated Data</vt:lpstr>
      <vt:lpstr>Test 2: Comparison of Optimization Techniques on Simulated Data</vt:lpstr>
      <vt:lpstr>Test 3: Comparison of Optimization Techniques on Actual Data</vt:lpstr>
      <vt:lpstr>Test 3: Comparison of Optimization Techniques on Actual Data</vt:lpstr>
      <vt:lpstr>Conclusion</vt:lpstr>
      <vt:lpstr>PowerPoint Presentation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Vinayak Balachandra Menon</dc:creator>
  <cp:lastModifiedBy>Vinayak Balachandra Menon</cp:lastModifiedBy>
  <cp:revision>31</cp:revision>
  <dcterms:created xsi:type="dcterms:W3CDTF">2020-08-26T22:12:47Z</dcterms:created>
  <dcterms:modified xsi:type="dcterms:W3CDTF">2020-08-27T13:30:31Z</dcterms:modified>
</cp:coreProperties>
</file>